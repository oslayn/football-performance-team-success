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5683" autoAdjust="0"/>
  </p:normalViewPr>
  <p:slideViewPr>
    <p:cSldViewPr snapToGrid="0" snapToObjects="1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8205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Abrir</a:t>
            </a:r>
            <a:r>
              <a:rPr lang="en-US" dirty="0"/>
              <a:t> com a </a:t>
            </a:r>
            <a:r>
              <a:rPr lang="en-US" dirty="0" err="1"/>
              <a:t>pergunta</a:t>
            </a:r>
            <a:r>
              <a:rPr lang="en-US" dirty="0"/>
              <a:t> central do </a:t>
            </a:r>
            <a:r>
              <a:rPr lang="en-US" dirty="0" err="1"/>
              <a:t>trabalho</a:t>
            </a:r>
            <a:r>
              <a:rPr lang="en-US" dirty="0"/>
              <a:t>: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métricas</a:t>
            </a:r>
            <a:r>
              <a:rPr lang="en-US" dirty="0"/>
              <a:t> </a:t>
            </a:r>
            <a:r>
              <a:rPr lang="en-US" dirty="0" err="1"/>
              <a:t>explicam</a:t>
            </a:r>
            <a:r>
              <a:rPr lang="en-US" dirty="0"/>
              <a:t> o </a:t>
            </a:r>
            <a:r>
              <a:rPr lang="en-US" dirty="0" err="1"/>
              <a:t>sucesso</a:t>
            </a:r>
            <a:r>
              <a:rPr lang="en-US" dirty="0"/>
              <a:t> das </a:t>
            </a:r>
            <a:r>
              <a:rPr lang="en-US" dirty="0" err="1"/>
              <a:t>equipas</a:t>
            </a:r>
            <a:r>
              <a:rPr lang="en-US" dirty="0"/>
              <a:t> e </a:t>
            </a:r>
            <a:r>
              <a:rPr lang="en-US" dirty="0" err="1"/>
              <a:t>até</a:t>
            </a:r>
            <a:r>
              <a:rPr lang="en-US" dirty="0"/>
              <a:t> </a:t>
            </a:r>
            <a:r>
              <a:rPr lang="en-US" dirty="0" err="1"/>
              <a:t>onde</a:t>
            </a:r>
            <a:r>
              <a:rPr lang="en-US" dirty="0"/>
              <a:t> </a:t>
            </a:r>
            <a:r>
              <a:rPr lang="en-US" dirty="0" err="1"/>
              <a:t>conseguimos</a:t>
            </a:r>
            <a:r>
              <a:rPr lang="en-US" dirty="0"/>
              <a:t> </a:t>
            </a:r>
            <a:r>
              <a:rPr lang="en-US" dirty="0" err="1"/>
              <a:t>prever</a:t>
            </a:r>
            <a:r>
              <a:rPr lang="en-US" dirty="0"/>
              <a:t> o </a:t>
            </a:r>
            <a:r>
              <a:rPr lang="en-US" dirty="0" err="1"/>
              <a:t>resultado</a:t>
            </a:r>
            <a:r>
              <a:rPr lang="en-US" dirty="0"/>
              <a:t>.
</a:t>
            </a:r>
            <a:r>
              <a:rPr lang="en-US" dirty="0" err="1"/>
              <a:t>Sublinhar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esta</a:t>
            </a:r>
            <a:r>
              <a:rPr lang="en-US" dirty="0"/>
              <a:t> </a:t>
            </a:r>
            <a:r>
              <a:rPr lang="en-US" dirty="0" err="1"/>
              <a:t>versão</a:t>
            </a:r>
            <a:r>
              <a:rPr lang="en-US" dirty="0"/>
              <a:t> </a:t>
            </a:r>
            <a:r>
              <a:rPr lang="en-US" dirty="0" err="1"/>
              <a:t>reorganiza</a:t>
            </a:r>
            <a:r>
              <a:rPr lang="en-US" dirty="0"/>
              <a:t> o </a:t>
            </a:r>
            <a:r>
              <a:rPr lang="en-US" dirty="0" err="1"/>
              <a:t>conteúdo</a:t>
            </a:r>
            <a:r>
              <a:rPr lang="en-US" dirty="0"/>
              <a:t> do notebook para um </a:t>
            </a:r>
            <a:r>
              <a:rPr lang="en-US" dirty="0" err="1"/>
              <a:t>formato</a:t>
            </a:r>
            <a:r>
              <a:rPr lang="en-US" dirty="0"/>
              <a:t> </a:t>
            </a:r>
            <a:r>
              <a:rPr lang="en-US" dirty="0" err="1"/>
              <a:t>mais</a:t>
            </a:r>
            <a:r>
              <a:rPr lang="en-US" dirty="0"/>
              <a:t> claro de </a:t>
            </a:r>
            <a:r>
              <a:rPr lang="en-US" dirty="0" err="1"/>
              <a:t>apresentação</a:t>
            </a:r>
            <a:r>
              <a:rPr lang="en-US" dirty="0"/>
              <a:t> oral, </a:t>
            </a:r>
            <a:r>
              <a:rPr lang="en-US" dirty="0" err="1"/>
              <a:t>mantendo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resultados</a:t>
            </a:r>
            <a:r>
              <a:rPr lang="en-US" dirty="0"/>
              <a:t>.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Explicar</a:t>
            </a:r>
            <a:r>
              <a:rPr lang="en-US" dirty="0"/>
              <a:t> </a:t>
            </a:r>
            <a:r>
              <a:rPr lang="en-US" dirty="0" err="1"/>
              <a:t>rapidamente</a:t>
            </a:r>
            <a:r>
              <a:rPr lang="en-US" dirty="0"/>
              <a:t> o </a:t>
            </a:r>
            <a:r>
              <a:rPr lang="en-US" dirty="0" err="1"/>
              <a:t>alcance</a:t>
            </a:r>
            <a:r>
              <a:rPr lang="en-US" dirty="0"/>
              <a:t> do conjunto de dados.
</a:t>
            </a:r>
            <a:r>
              <a:rPr lang="en-US" dirty="0" err="1"/>
              <a:t>Depois</a:t>
            </a:r>
            <a:r>
              <a:rPr lang="en-US" dirty="0"/>
              <a:t>, </a:t>
            </a:r>
            <a:r>
              <a:rPr lang="en-US" dirty="0" err="1"/>
              <a:t>referir</a:t>
            </a:r>
            <a:r>
              <a:rPr lang="en-US" dirty="0"/>
              <a:t> a </a:t>
            </a:r>
            <a:r>
              <a:rPr lang="en-US" dirty="0" err="1"/>
              <a:t>lógica</a:t>
            </a:r>
            <a:r>
              <a:rPr lang="en-US" dirty="0"/>
              <a:t> </a:t>
            </a:r>
            <a:r>
              <a:rPr lang="en-US" dirty="0" err="1"/>
              <a:t>metodológica</a:t>
            </a:r>
            <a:r>
              <a:rPr lang="en-US" dirty="0"/>
              <a:t>: </a:t>
            </a:r>
            <a:r>
              <a:rPr lang="en-US" dirty="0" err="1"/>
              <a:t>primeiro</a:t>
            </a:r>
            <a:r>
              <a:rPr lang="en-US" dirty="0"/>
              <a:t> </a:t>
            </a:r>
            <a:r>
              <a:rPr lang="en-US" dirty="0" err="1"/>
              <a:t>entender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padrões</a:t>
            </a:r>
            <a:r>
              <a:rPr lang="en-US" dirty="0"/>
              <a:t>, </a:t>
            </a:r>
            <a:r>
              <a:rPr lang="en-US" dirty="0" err="1"/>
              <a:t>depois</a:t>
            </a:r>
            <a:r>
              <a:rPr lang="en-US" dirty="0"/>
              <a:t> </a:t>
            </a:r>
            <a:r>
              <a:rPr lang="en-US" dirty="0" err="1"/>
              <a:t>agregar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equipa</a:t>
            </a:r>
            <a:r>
              <a:rPr lang="en-US" dirty="0"/>
              <a:t>/</a:t>
            </a:r>
            <a:r>
              <a:rPr lang="en-US" dirty="0" err="1"/>
              <a:t>época</a:t>
            </a:r>
            <a:r>
              <a:rPr lang="en-US" dirty="0"/>
              <a:t> e, </a:t>
            </a:r>
            <a:r>
              <a:rPr lang="en-US" dirty="0" err="1"/>
              <a:t>finalmente</a:t>
            </a:r>
            <a:r>
              <a:rPr lang="en-US" dirty="0"/>
              <a:t>, </a:t>
            </a:r>
            <a:r>
              <a:rPr lang="en-US" dirty="0" err="1"/>
              <a:t>testar</a:t>
            </a:r>
            <a:r>
              <a:rPr lang="en-US" dirty="0"/>
              <a:t> se as </a:t>
            </a:r>
            <a:r>
              <a:rPr lang="en-US" dirty="0" err="1"/>
              <a:t>métricas</a:t>
            </a:r>
            <a:r>
              <a:rPr lang="en-US" dirty="0"/>
              <a:t> </a:t>
            </a:r>
            <a:r>
              <a:rPr lang="en-US" dirty="0" err="1"/>
              <a:t>conseguem</a:t>
            </a:r>
            <a:r>
              <a:rPr lang="en-US" dirty="0"/>
              <a:t> </a:t>
            </a:r>
            <a:r>
              <a:rPr lang="en-US" dirty="0" err="1"/>
              <a:t>prever</a:t>
            </a:r>
            <a:r>
              <a:rPr lang="en-US" dirty="0"/>
              <a:t> o </a:t>
            </a:r>
            <a:r>
              <a:rPr lang="en-US" dirty="0" err="1"/>
              <a:t>resultado</a:t>
            </a:r>
            <a:r>
              <a:rPr lang="en-US" dirty="0"/>
              <a:t>.
Vale a </a:t>
            </a:r>
            <a:r>
              <a:rPr lang="en-US" dirty="0" err="1"/>
              <a:t>pena</a:t>
            </a:r>
            <a:r>
              <a:rPr lang="en-US" dirty="0"/>
              <a:t> </a:t>
            </a:r>
            <a:r>
              <a:rPr lang="en-US" dirty="0" err="1"/>
              <a:t>mencionar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foram</a:t>
            </a:r>
            <a:r>
              <a:rPr lang="en-US" dirty="0"/>
              <a:t> </a:t>
            </a:r>
            <a:r>
              <a:rPr lang="en-US" dirty="0" err="1"/>
              <a:t>retiradas</a:t>
            </a:r>
            <a:r>
              <a:rPr lang="en-US" dirty="0"/>
              <a:t> </a:t>
            </a:r>
            <a:r>
              <a:rPr lang="en-US" dirty="0" err="1"/>
              <a:t>variáveis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revelavam</a:t>
            </a:r>
            <a:r>
              <a:rPr lang="en-US" dirty="0"/>
              <a:t> </a:t>
            </a:r>
            <a:r>
              <a:rPr lang="en-US" dirty="0" err="1"/>
              <a:t>diretamente</a:t>
            </a:r>
            <a:r>
              <a:rPr lang="en-US" dirty="0"/>
              <a:t> o </a:t>
            </a:r>
            <a:r>
              <a:rPr lang="en-US" dirty="0" err="1"/>
              <a:t>resultado</a:t>
            </a:r>
            <a:r>
              <a:rPr lang="en-US" dirty="0"/>
              <a:t> para </a:t>
            </a:r>
            <a:r>
              <a:rPr lang="en-US" dirty="0" err="1"/>
              <a:t>evitar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avaliação</a:t>
            </a:r>
            <a:r>
              <a:rPr lang="en-US" dirty="0"/>
              <a:t> </a:t>
            </a:r>
            <a:r>
              <a:rPr lang="en-US" dirty="0" err="1"/>
              <a:t>artificialmente</a:t>
            </a:r>
            <a:r>
              <a:rPr lang="en-US" dirty="0"/>
              <a:t> </a:t>
            </a:r>
            <a:r>
              <a:rPr lang="en-US" dirty="0" err="1"/>
              <a:t>otimista</a:t>
            </a:r>
            <a:r>
              <a:rPr lang="en-US" dirty="0"/>
              <a:t>.
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Neste slide apresento o </a:t>
            </a:r>
            <a:r>
              <a:rPr lang="pt-PT" dirty="0" err="1"/>
              <a:t>dataset</a:t>
            </a:r>
            <a:r>
              <a:rPr lang="pt-PT" dirty="0"/>
              <a:t> que serviu de base ao trabalho.</a:t>
            </a:r>
            <a:br>
              <a:rPr lang="pt-PT" dirty="0"/>
            </a:br>
            <a:r>
              <a:rPr lang="pt-PT" dirty="0"/>
              <a:t>O conjunto de dados inclui várias ligas, épocas e métricas relevantes do jogo, permitindo analisar o desempenho das equipas de forma mais detalhada.</a:t>
            </a:r>
            <a:br>
              <a:rPr lang="pt-PT" dirty="0"/>
            </a:br>
            <a:r>
              <a:rPr lang="pt-PT" dirty="0"/>
              <a:t>A sua principal mais-valia é combinar variáveis ofensivas, defensivas e táticas, o que ajuda a perceber melhor os fatores associados ao sucesso competitivo.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Nesta </a:t>
            </a:r>
            <a:r>
              <a:rPr lang="en-US" dirty="0" err="1"/>
              <a:t>parte</a:t>
            </a:r>
            <a:r>
              <a:rPr lang="en-US" dirty="0"/>
              <a:t>, </a:t>
            </a:r>
            <a:r>
              <a:rPr lang="en-US" dirty="0" err="1"/>
              <a:t>reforçar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a </a:t>
            </a:r>
            <a:r>
              <a:rPr lang="en-US" dirty="0" err="1"/>
              <a:t>liga</a:t>
            </a:r>
            <a:r>
              <a:rPr lang="en-US" dirty="0"/>
              <a:t>,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só</a:t>
            </a:r>
            <a:r>
              <a:rPr lang="en-US" dirty="0"/>
              <a:t>,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explica</a:t>
            </a:r>
            <a:r>
              <a:rPr lang="en-US" dirty="0"/>
              <a:t> </a:t>
            </a:r>
            <a:r>
              <a:rPr lang="en-US" dirty="0" err="1"/>
              <a:t>grandes</a:t>
            </a:r>
            <a:r>
              <a:rPr lang="en-US" dirty="0"/>
              <a:t> </a:t>
            </a:r>
            <a:r>
              <a:rPr lang="en-US" dirty="0" err="1"/>
              <a:t>diferenças</a:t>
            </a:r>
            <a:r>
              <a:rPr lang="en-US" dirty="0"/>
              <a:t> no </a:t>
            </a:r>
            <a:r>
              <a:rPr lang="en-US" dirty="0" err="1"/>
              <a:t>rendimento</a:t>
            </a:r>
            <a:r>
              <a:rPr lang="en-US" dirty="0"/>
              <a:t> </a:t>
            </a:r>
            <a:r>
              <a:rPr lang="en-US" dirty="0" err="1"/>
              <a:t>médio</a:t>
            </a:r>
            <a:r>
              <a:rPr lang="en-US" dirty="0"/>
              <a:t>.
O </a:t>
            </a:r>
            <a:r>
              <a:rPr lang="en-US" dirty="0" err="1"/>
              <a:t>ponto</a:t>
            </a:r>
            <a:r>
              <a:rPr lang="en-US" dirty="0"/>
              <a:t> </a:t>
            </a:r>
            <a:r>
              <a:rPr lang="en-US" dirty="0" err="1"/>
              <a:t>realmente</a:t>
            </a:r>
            <a:r>
              <a:rPr lang="en-US" dirty="0"/>
              <a:t> forte é o factor casa, </a:t>
            </a:r>
            <a:r>
              <a:rPr lang="en-US" dirty="0" err="1"/>
              <a:t>que</a:t>
            </a:r>
            <a:r>
              <a:rPr lang="en-US" dirty="0"/>
              <a:t> surge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vantagem</a:t>
            </a:r>
            <a:r>
              <a:rPr lang="en-US" dirty="0"/>
              <a:t> </a:t>
            </a:r>
            <a:r>
              <a:rPr lang="en-US" dirty="0" err="1"/>
              <a:t>consistente</a:t>
            </a:r>
            <a:r>
              <a:rPr lang="en-US" dirty="0"/>
              <a:t>.
A barra do </a:t>
            </a:r>
            <a:r>
              <a:rPr lang="en-US" dirty="0" err="1"/>
              <a:t>resultado</a:t>
            </a:r>
            <a:r>
              <a:rPr lang="en-US" dirty="0"/>
              <a:t> serve </a:t>
            </a:r>
            <a:r>
              <a:rPr lang="en-US" dirty="0" err="1"/>
              <a:t>também</a:t>
            </a:r>
            <a:r>
              <a:rPr lang="en-US" dirty="0"/>
              <a:t> para </a:t>
            </a:r>
            <a:r>
              <a:rPr lang="en-US" dirty="0" err="1"/>
              <a:t>lembrar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o </a:t>
            </a:r>
            <a:r>
              <a:rPr lang="en-US" dirty="0" err="1"/>
              <a:t>alvo</a:t>
            </a:r>
            <a:r>
              <a:rPr lang="en-US" dirty="0"/>
              <a:t> “</a:t>
            </a:r>
            <a:r>
              <a:rPr lang="en-US" dirty="0" err="1"/>
              <a:t>pontos</a:t>
            </a:r>
            <a:r>
              <a:rPr lang="en-US" dirty="0"/>
              <a:t>” </a:t>
            </a:r>
            <a:r>
              <a:rPr lang="en-US" dirty="0" err="1"/>
              <a:t>deriva</a:t>
            </a:r>
            <a:r>
              <a:rPr lang="en-US" dirty="0"/>
              <a:t> do </a:t>
            </a:r>
            <a:r>
              <a:rPr lang="en-US" dirty="0" err="1"/>
              <a:t>próprio</a:t>
            </a:r>
            <a:r>
              <a:rPr lang="en-US" dirty="0"/>
              <a:t> </a:t>
            </a:r>
            <a:r>
              <a:rPr lang="en-US" dirty="0" err="1"/>
              <a:t>desfecho</a:t>
            </a:r>
            <a:r>
              <a:rPr lang="en-US" dirty="0"/>
              <a:t> do </a:t>
            </a:r>
            <a:r>
              <a:rPr lang="en-US" dirty="0" err="1"/>
              <a:t>jogo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Usar </a:t>
            </a:r>
            <a:r>
              <a:rPr lang="en-US" dirty="0" err="1"/>
              <a:t>este</a:t>
            </a:r>
            <a:r>
              <a:rPr lang="en-US" dirty="0"/>
              <a:t> slide para </a:t>
            </a:r>
            <a:r>
              <a:rPr lang="en-US" dirty="0" err="1"/>
              <a:t>traduzir</a:t>
            </a:r>
            <a:r>
              <a:rPr lang="en-US" dirty="0"/>
              <a:t> a </a:t>
            </a:r>
            <a:r>
              <a:rPr lang="en-US" dirty="0" err="1"/>
              <a:t>análise</a:t>
            </a:r>
            <a:r>
              <a:rPr lang="en-US" dirty="0"/>
              <a:t> </a:t>
            </a:r>
            <a:r>
              <a:rPr lang="en-US" dirty="0" err="1"/>
              <a:t>estatística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linguagem</a:t>
            </a:r>
            <a:r>
              <a:rPr lang="en-US" dirty="0"/>
              <a:t> simples.
O </a:t>
            </a:r>
            <a:r>
              <a:rPr lang="en-US" dirty="0" err="1"/>
              <a:t>essencial</a:t>
            </a:r>
            <a:r>
              <a:rPr lang="en-US" dirty="0"/>
              <a:t> é </a:t>
            </a:r>
            <a:r>
              <a:rPr lang="en-US" dirty="0" err="1"/>
              <a:t>mostrar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as </a:t>
            </a:r>
            <a:r>
              <a:rPr lang="en-US" dirty="0" err="1"/>
              <a:t>métricas</a:t>
            </a:r>
            <a:r>
              <a:rPr lang="en-US" dirty="0"/>
              <a:t> </a:t>
            </a:r>
            <a:r>
              <a:rPr lang="en-US" dirty="0" err="1"/>
              <a:t>ofensivas</a:t>
            </a:r>
            <a:r>
              <a:rPr lang="en-US" dirty="0"/>
              <a:t> e </a:t>
            </a:r>
            <a:r>
              <a:rPr lang="en-US" dirty="0" err="1"/>
              <a:t>defensivas</a:t>
            </a:r>
            <a:r>
              <a:rPr lang="en-US" dirty="0"/>
              <a:t> </a:t>
            </a:r>
            <a:r>
              <a:rPr lang="en-US" dirty="0" err="1"/>
              <a:t>acompanham</a:t>
            </a:r>
            <a:r>
              <a:rPr lang="en-US" dirty="0"/>
              <a:t> </a:t>
            </a:r>
            <a:r>
              <a:rPr lang="en-US" dirty="0" err="1"/>
              <a:t>muito</a:t>
            </a:r>
            <a:r>
              <a:rPr lang="en-US" dirty="0"/>
              <a:t> de </a:t>
            </a:r>
            <a:r>
              <a:rPr lang="en-US" dirty="0" err="1"/>
              <a:t>perto</a:t>
            </a:r>
            <a:r>
              <a:rPr lang="en-US" dirty="0"/>
              <a:t> o </a:t>
            </a:r>
            <a:r>
              <a:rPr lang="en-US" dirty="0" err="1"/>
              <a:t>resultado</a:t>
            </a:r>
            <a:r>
              <a:rPr lang="en-US" dirty="0"/>
              <a:t> final.
Se for </a:t>
            </a:r>
            <a:r>
              <a:rPr lang="en-US" dirty="0" err="1"/>
              <a:t>preciso</a:t>
            </a:r>
            <a:r>
              <a:rPr lang="en-US" dirty="0"/>
              <a:t> </a:t>
            </a:r>
            <a:r>
              <a:rPr lang="en-US" dirty="0" err="1"/>
              <a:t>resumir</a:t>
            </a:r>
            <a:r>
              <a:rPr lang="en-US" dirty="0"/>
              <a:t> </a:t>
            </a:r>
            <a:r>
              <a:rPr lang="en-US" dirty="0" err="1"/>
              <a:t>numa</a:t>
            </a:r>
            <a:r>
              <a:rPr lang="en-US" dirty="0"/>
              <a:t> </a:t>
            </a:r>
            <a:r>
              <a:rPr lang="en-US" dirty="0" err="1"/>
              <a:t>frase</a:t>
            </a:r>
            <a:r>
              <a:rPr lang="en-US" dirty="0"/>
              <a:t>: </a:t>
            </a:r>
            <a:r>
              <a:rPr lang="en-US" dirty="0" err="1"/>
              <a:t>marcar</a:t>
            </a:r>
            <a:r>
              <a:rPr lang="en-US" dirty="0"/>
              <a:t> </a:t>
            </a:r>
            <a:r>
              <a:rPr lang="en-US" dirty="0" err="1"/>
              <a:t>mais</a:t>
            </a:r>
            <a:r>
              <a:rPr lang="en-US" dirty="0"/>
              <a:t> e </a:t>
            </a:r>
            <a:r>
              <a:rPr lang="en-US" dirty="0" err="1"/>
              <a:t>sofrer</a:t>
            </a:r>
            <a:r>
              <a:rPr lang="en-US" dirty="0"/>
              <a:t> </a:t>
            </a:r>
            <a:r>
              <a:rPr lang="en-US" dirty="0" err="1"/>
              <a:t>menos</a:t>
            </a:r>
            <a:r>
              <a:rPr lang="en-US" dirty="0"/>
              <a:t> continua a ser a </a:t>
            </a:r>
            <a:r>
              <a:rPr lang="en-US" dirty="0" err="1"/>
              <a:t>regra</a:t>
            </a:r>
            <a:r>
              <a:rPr lang="en-US" dirty="0"/>
              <a:t>, mas as </a:t>
            </a:r>
            <a:r>
              <a:rPr lang="en-US" dirty="0" err="1"/>
              <a:t>métricas</a:t>
            </a:r>
            <a:r>
              <a:rPr lang="en-US" dirty="0"/>
              <a:t> </a:t>
            </a:r>
            <a:r>
              <a:rPr lang="en-US" dirty="0" err="1"/>
              <a:t>avançadas</a:t>
            </a:r>
            <a:r>
              <a:rPr lang="en-US" dirty="0"/>
              <a:t> </a:t>
            </a:r>
            <a:r>
              <a:rPr lang="en-US" dirty="0" err="1"/>
              <a:t>ajudam</a:t>
            </a:r>
            <a:r>
              <a:rPr lang="en-US" dirty="0"/>
              <a:t> a </a:t>
            </a:r>
            <a:r>
              <a:rPr lang="en-US" dirty="0" err="1"/>
              <a:t>explicar</a:t>
            </a:r>
            <a:r>
              <a:rPr lang="en-US" dirty="0"/>
              <a:t> </a:t>
            </a:r>
            <a:r>
              <a:rPr lang="en-US" dirty="0" err="1"/>
              <a:t>melhor</a:t>
            </a:r>
            <a:r>
              <a:rPr lang="en-US" dirty="0"/>
              <a:t> esse </a:t>
            </a:r>
            <a:r>
              <a:rPr lang="en-US" dirty="0" err="1"/>
              <a:t>comportamento</a:t>
            </a:r>
            <a:r>
              <a:rPr lang="en-US" dirty="0"/>
              <a:t>.
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dirty="0" err="1"/>
              <a:t>leitura</a:t>
            </a:r>
            <a:r>
              <a:rPr lang="en-US" dirty="0"/>
              <a:t> da </a:t>
            </a:r>
            <a:r>
              <a:rPr lang="en-US" dirty="0" err="1"/>
              <a:t>matriz</a:t>
            </a:r>
            <a:r>
              <a:rPr lang="en-US" dirty="0"/>
              <a:t> </a:t>
            </a:r>
            <a:r>
              <a:rPr lang="en-US" dirty="0" err="1"/>
              <a:t>deve</a:t>
            </a:r>
            <a:r>
              <a:rPr lang="en-US" dirty="0"/>
              <a:t> ser </a:t>
            </a:r>
            <a:r>
              <a:rPr lang="en-US" dirty="0" err="1"/>
              <a:t>rápida</a:t>
            </a:r>
            <a:r>
              <a:rPr lang="en-US" dirty="0"/>
              <a:t>: </a:t>
            </a:r>
            <a:r>
              <a:rPr lang="en-US" dirty="0" err="1"/>
              <a:t>identificar</a:t>
            </a:r>
            <a:r>
              <a:rPr lang="en-US" dirty="0"/>
              <a:t> </a:t>
            </a:r>
            <a:r>
              <a:rPr lang="en-US" dirty="0" err="1"/>
              <a:t>apenas</a:t>
            </a:r>
            <a:r>
              <a:rPr lang="en-US" dirty="0"/>
              <a:t> as </a:t>
            </a:r>
            <a:r>
              <a:rPr lang="en-US" dirty="0" err="1"/>
              <a:t>relações</a:t>
            </a:r>
            <a:r>
              <a:rPr lang="en-US" dirty="0"/>
              <a:t> </a:t>
            </a:r>
            <a:r>
              <a:rPr lang="en-US" dirty="0" err="1"/>
              <a:t>mais</a:t>
            </a:r>
            <a:r>
              <a:rPr lang="en-US" dirty="0"/>
              <a:t> fortes.
</a:t>
            </a:r>
            <a:r>
              <a:rPr lang="en-US" dirty="0" err="1"/>
              <a:t>Convém</a:t>
            </a:r>
            <a:r>
              <a:rPr lang="en-US" dirty="0"/>
              <a:t> </a:t>
            </a:r>
            <a:r>
              <a:rPr lang="en-US" dirty="0" err="1"/>
              <a:t>esclarecer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xPts_diff</a:t>
            </a:r>
            <a:r>
              <a:rPr lang="en-US" dirty="0"/>
              <a:t> é </a:t>
            </a:r>
            <a:r>
              <a:rPr lang="en-US" dirty="0" err="1"/>
              <a:t>relevante</a:t>
            </a:r>
            <a:r>
              <a:rPr lang="en-US" dirty="0"/>
              <a:t> </a:t>
            </a:r>
            <a:r>
              <a:rPr lang="en-US" dirty="0" err="1"/>
              <a:t>porque</a:t>
            </a:r>
            <a:r>
              <a:rPr lang="en-US" dirty="0"/>
              <a:t> </a:t>
            </a:r>
            <a:r>
              <a:rPr lang="en-US" dirty="0" err="1"/>
              <a:t>traduz</a:t>
            </a:r>
            <a:r>
              <a:rPr lang="en-US" dirty="0"/>
              <a:t> a </a:t>
            </a:r>
            <a:r>
              <a:rPr lang="en-US" dirty="0" err="1"/>
              <a:t>distância</a:t>
            </a:r>
            <a:r>
              <a:rPr lang="en-US" dirty="0"/>
              <a:t> entre o </a:t>
            </a:r>
            <a:r>
              <a:rPr lang="en-US" dirty="0" err="1"/>
              <a:t>esperado</a:t>
            </a:r>
            <a:r>
              <a:rPr lang="en-US" dirty="0"/>
              <a:t> e o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realmente</a:t>
            </a:r>
            <a:r>
              <a:rPr lang="en-US" dirty="0"/>
              <a:t> </a:t>
            </a:r>
            <a:r>
              <a:rPr lang="en-US" dirty="0" err="1"/>
              <a:t>aconteceu</a:t>
            </a:r>
            <a:r>
              <a:rPr lang="en-US" dirty="0"/>
              <a:t> no </a:t>
            </a:r>
            <a:r>
              <a:rPr lang="en-US" dirty="0" err="1"/>
              <a:t>jogo</a:t>
            </a:r>
            <a:r>
              <a:rPr lang="en-US" dirty="0"/>
              <a:t>.
Se o tempo for </a:t>
            </a:r>
            <a:r>
              <a:rPr lang="en-US" dirty="0" err="1"/>
              <a:t>curto</a:t>
            </a:r>
            <a:r>
              <a:rPr lang="en-US" dirty="0"/>
              <a:t>, </a:t>
            </a:r>
            <a:r>
              <a:rPr lang="en-US" dirty="0" err="1"/>
              <a:t>destacar</a:t>
            </a:r>
            <a:r>
              <a:rPr lang="en-US" dirty="0"/>
              <a:t> </a:t>
            </a:r>
            <a:r>
              <a:rPr lang="en-US" dirty="0" err="1"/>
              <a:t>só</a:t>
            </a:r>
            <a:r>
              <a:rPr lang="en-US" dirty="0"/>
              <a:t> </a:t>
            </a:r>
            <a:r>
              <a:rPr lang="en-US" dirty="0" err="1"/>
              <a:t>três</a:t>
            </a:r>
            <a:r>
              <a:rPr lang="en-US" dirty="0"/>
              <a:t> </a:t>
            </a:r>
            <a:r>
              <a:rPr lang="en-US" dirty="0" err="1"/>
              <a:t>sinais</a:t>
            </a:r>
            <a:r>
              <a:rPr lang="en-US" dirty="0"/>
              <a:t>: </a:t>
            </a:r>
            <a:r>
              <a:rPr lang="en-US" dirty="0" err="1"/>
              <a:t>golos</a:t>
            </a:r>
            <a:r>
              <a:rPr lang="en-US" dirty="0"/>
              <a:t> </a:t>
            </a:r>
            <a:r>
              <a:rPr lang="en-US" dirty="0" err="1"/>
              <a:t>marcados</a:t>
            </a:r>
            <a:r>
              <a:rPr lang="en-US" dirty="0"/>
              <a:t>, </a:t>
            </a:r>
            <a:r>
              <a:rPr lang="en-US" dirty="0" err="1"/>
              <a:t>golos</a:t>
            </a:r>
            <a:r>
              <a:rPr lang="en-US" dirty="0"/>
              <a:t> </a:t>
            </a:r>
            <a:r>
              <a:rPr lang="en-US" dirty="0" err="1"/>
              <a:t>sofridos</a:t>
            </a:r>
            <a:r>
              <a:rPr lang="en-US" dirty="0"/>
              <a:t> e </a:t>
            </a:r>
            <a:r>
              <a:rPr lang="en-US" dirty="0" err="1"/>
              <a:t>xPts</a:t>
            </a:r>
            <a:r>
              <a:rPr lang="en-US" dirty="0"/>
              <a:t>.
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Este slide </a:t>
            </a:r>
            <a:r>
              <a:rPr lang="en-US" dirty="0" err="1"/>
              <a:t>ajuda</a:t>
            </a:r>
            <a:r>
              <a:rPr lang="en-US" dirty="0"/>
              <a:t> a </a:t>
            </a:r>
            <a:r>
              <a:rPr lang="en-US" dirty="0" err="1"/>
              <a:t>explicar</a:t>
            </a:r>
            <a:r>
              <a:rPr lang="en-US" dirty="0"/>
              <a:t> a “forma” dos dados antes de </a:t>
            </a:r>
            <a:r>
              <a:rPr lang="en-US" dirty="0" err="1"/>
              <a:t>passar</a:t>
            </a:r>
            <a:r>
              <a:rPr lang="en-US" dirty="0"/>
              <a:t> para a </a:t>
            </a:r>
            <a:r>
              <a:rPr lang="en-US" dirty="0" err="1"/>
              <a:t>comparação</a:t>
            </a:r>
            <a:r>
              <a:rPr lang="en-US" dirty="0"/>
              <a:t> entre </a:t>
            </a:r>
            <a:r>
              <a:rPr lang="en-US" dirty="0" err="1"/>
              <a:t>equipas</a:t>
            </a:r>
            <a:r>
              <a:rPr lang="en-US" dirty="0"/>
              <a:t> e para a </a:t>
            </a:r>
            <a:r>
              <a:rPr lang="en-US" dirty="0" err="1"/>
              <a:t>modelação</a:t>
            </a:r>
            <a:r>
              <a:rPr lang="en-US" dirty="0"/>
              <a:t>.
A </a:t>
            </a:r>
            <a:r>
              <a:rPr lang="en-US" dirty="0" err="1"/>
              <a:t>ideia</a:t>
            </a:r>
            <a:r>
              <a:rPr lang="en-US" dirty="0"/>
              <a:t> principal é </a:t>
            </a:r>
            <a:r>
              <a:rPr lang="en-US" dirty="0" err="1"/>
              <a:t>que</a:t>
            </a:r>
            <a:r>
              <a:rPr lang="en-US" dirty="0"/>
              <a:t> as </a:t>
            </a:r>
            <a:r>
              <a:rPr lang="en-US" dirty="0" err="1"/>
              <a:t>métricas</a:t>
            </a:r>
            <a:r>
              <a:rPr lang="en-US" dirty="0"/>
              <a:t> </a:t>
            </a:r>
            <a:r>
              <a:rPr lang="en-US" dirty="0" err="1"/>
              <a:t>avançadas</a:t>
            </a:r>
            <a:r>
              <a:rPr lang="en-US" dirty="0"/>
              <a:t>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estão</a:t>
            </a:r>
            <a:r>
              <a:rPr lang="en-US" dirty="0"/>
              <a:t> </a:t>
            </a:r>
            <a:r>
              <a:rPr lang="en-US" dirty="0" err="1"/>
              <a:t>distribuídas</a:t>
            </a:r>
            <a:r>
              <a:rPr lang="en-US" dirty="0"/>
              <a:t> de forma </a:t>
            </a:r>
            <a:r>
              <a:rPr lang="en-US" dirty="0" err="1"/>
              <a:t>uniforme</a:t>
            </a:r>
            <a:r>
              <a:rPr lang="en-US" dirty="0"/>
              <a:t>; a </a:t>
            </a:r>
            <a:r>
              <a:rPr lang="en-US" dirty="0" err="1"/>
              <a:t>maioria</a:t>
            </a:r>
            <a:r>
              <a:rPr lang="en-US" dirty="0"/>
              <a:t> dos </a:t>
            </a:r>
            <a:r>
              <a:rPr lang="en-US" dirty="0" err="1"/>
              <a:t>jogos</a:t>
            </a:r>
            <a:r>
              <a:rPr lang="en-US" dirty="0"/>
              <a:t> </a:t>
            </a:r>
            <a:r>
              <a:rPr lang="en-US" dirty="0" err="1"/>
              <a:t>fica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moderados</a:t>
            </a:r>
            <a:r>
              <a:rPr lang="en-US" dirty="0"/>
              <a:t>.
</a:t>
            </a:r>
            <a:r>
              <a:rPr lang="en-US" dirty="0" err="1"/>
              <a:t>Também</a:t>
            </a:r>
            <a:r>
              <a:rPr lang="en-US" dirty="0"/>
              <a:t> vale a </a:t>
            </a:r>
            <a:r>
              <a:rPr lang="en-US" dirty="0" err="1"/>
              <a:t>pena</a:t>
            </a:r>
            <a:r>
              <a:rPr lang="en-US" dirty="0"/>
              <a:t> </a:t>
            </a:r>
            <a:r>
              <a:rPr lang="en-US" dirty="0" err="1"/>
              <a:t>notar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a </a:t>
            </a:r>
            <a:r>
              <a:rPr lang="en-US" dirty="0" err="1"/>
              <a:t>variável</a:t>
            </a:r>
            <a:r>
              <a:rPr lang="en-US" dirty="0"/>
              <a:t> </a:t>
            </a:r>
            <a:r>
              <a:rPr lang="en-US" dirty="0" err="1"/>
              <a:t>pontos</a:t>
            </a:r>
            <a:r>
              <a:rPr lang="en-US" dirty="0"/>
              <a:t> é </a:t>
            </a:r>
            <a:r>
              <a:rPr lang="en-US" dirty="0" err="1"/>
              <a:t>discreta</a:t>
            </a:r>
            <a:r>
              <a:rPr lang="en-US" dirty="0"/>
              <a:t>, o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condiciona</a:t>
            </a:r>
            <a:r>
              <a:rPr lang="en-US" dirty="0"/>
              <a:t> o </a:t>
            </a:r>
            <a:r>
              <a:rPr lang="en-US" dirty="0" err="1"/>
              <a:t>tipo</a:t>
            </a:r>
            <a:r>
              <a:rPr lang="en-US" dirty="0"/>
              <a:t> de </a:t>
            </a:r>
            <a:r>
              <a:rPr lang="en-US" dirty="0" err="1"/>
              <a:t>modelo</a:t>
            </a:r>
            <a:r>
              <a:rPr lang="en-US" dirty="0"/>
              <a:t> a </a:t>
            </a:r>
            <a:r>
              <a:rPr lang="en-US" dirty="0" err="1"/>
              <a:t>aplicar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Aqui </a:t>
            </a:r>
            <a:r>
              <a:rPr lang="en-US" dirty="0" err="1"/>
              <a:t>convém</a:t>
            </a:r>
            <a:r>
              <a:rPr lang="en-US" dirty="0"/>
              <a:t> </a:t>
            </a:r>
            <a:r>
              <a:rPr lang="en-US" dirty="0" err="1"/>
              <a:t>explicar</a:t>
            </a:r>
            <a:r>
              <a:rPr lang="en-US" dirty="0"/>
              <a:t> a </a:t>
            </a:r>
            <a:r>
              <a:rPr lang="en-US" dirty="0" err="1"/>
              <a:t>mudança</a:t>
            </a:r>
            <a:r>
              <a:rPr lang="en-US" dirty="0"/>
              <a:t> de </a:t>
            </a:r>
            <a:r>
              <a:rPr lang="en-US" dirty="0" err="1"/>
              <a:t>unidade</a:t>
            </a:r>
            <a:r>
              <a:rPr lang="en-US" dirty="0"/>
              <a:t> de </a:t>
            </a:r>
            <a:r>
              <a:rPr lang="en-US" dirty="0" err="1"/>
              <a:t>análise</a:t>
            </a:r>
            <a:r>
              <a:rPr lang="en-US" dirty="0"/>
              <a:t>: do </a:t>
            </a:r>
            <a:r>
              <a:rPr lang="en-US" dirty="0" err="1"/>
              <a:t>jogo</a:t>
            </a:r>
            <a:r>
              <a:rPr lang="en-US" dirty="0"/>
              <a:t> para a </a:t>
            </a:r>
            <a:r>
              <a:rPr lang="en-US" dirty="0" err="1"/>
              <a:t>época</a:t>
            </a:r>
            <a:r>
              <a:rPr lang="en-US" dirty="0"/>
              <a:t>.
Esta </a:t>
            </a:r>
            <a:r>
              <a:rPr lang="en-US" dirty="0" err="1"/>
              <a:t>transição</a:t>
            </a:r>
            <a:r>
              <a:rPr lang="en-US" dirty="0"/>
              <a:t> é </a:t>
            </a:r>
            <a:r>
              <a:rPr lang="en-US" dirty="0" err="1"/>
              <a:t>importante</a:t>
            </a:r>
            <a:r>
              <a:rPr lang="en-US" dirty="0"/>
              <a:t> </a:t>
            </a:r>
            <a:r>
              <a:rPr lang="en-US" dirty="0" err="1"/>
              <a:t>porque</a:t>
            </a:r>
            <a:r>
              <a:rPr lang="en-US" dirty="0"/>
              <a:t> a </a:t>
            </a:r>
            <a:r>
              <a:rPr lang="en-US" dirty="0" err="1"/>
              <a:t>pergunta</a:t>
            </a:r>
            <a:r>
              <a:rPr lang="en-US" dirty="0"/>
              <a:t> </a:t>
            </a:r>
            <a:r>
              <a:rPr lang="en-US" dirty="0" err="1"/>
              <a:t>sobre</a:t>
            </a:r>
            <a:r>
              <a:rPr lang="en-US" dirty="0"/>
              <a:t> “</a:t>
            </a:r>
            <a:r>
              <a:rPr lang="en-US" dirty="0" err="1"/>
              <a:t>sucesso</a:t>
            </a:r>
            <a:r>
              <a:rPr lang="en-US" dirty="0"/>
              <a:t>” </a:t>
            </a:r>
            <a:r>
              <a:rPr lang="en-US" dirty="0" err="1"/>
              <a:t>faz</a:t>
            </a:r>
            <a:r>
              <a:rPr lang="en-US" dirty="0"/>
              <a:t> </a:t>
            </a:r>
            <a:r>
              <a:rPr lang="en-US" dirty="0" err="1"/>
              <a:t>mais</a:t>
            </a:r>
            <a:r>
              <a:rPr lang="en-US" dirty="0"/>
              <a:t> </a:t>
            </a:r>
            <a:r>
              <a:rPr lang="en-US" dirty="0" err="1"/>
              <a:t>sentido</a:t>
            </a:r>
            <a:r>
              <a:rPr lang="en-US" dirty="0"/>
              <a:t> </a:t>
            </a:r>
            <a:r>
              <a:rPr lang="en-US" dirty="0" err="1"/>
              <a:t>quando</a:t>
            </a:r>
            <a:r>
              <a:rPr lang="en-US" dirty="0"/>
              <a:t> </a:t>
            </a:r>
            <a:r>
              <a:rPr lang="en-US" dirty="0" err="1"/>
              <a:t>olhamos</a:t>
            </a:r>
            <a:r>
              <a:rPr lang="en-US" dirty="0"/>
              <a:t> para a </a:t>
            </a:r>
            <a:r>
              <a:rPr lang="en-US" dirty="0" err="1"/>
              <a:t>consistência</a:t>
            </a:r>
            <a:r>
              <a:rPr lang="en-US" dirty="0"/>
              <a:t> </a:t>
            </a:r>
            <a:r>
              <a:rPr lang="en-US" dirty="0" err="1"/>
              <a:t>ao</a:t>
            </a:r>
            <a:r>
              <a:rPr lang="en-US" dirty="0"/>
              <a:t> </a:t>
            </a:r>
            <a:r>
              <a:rPr lang="en-US" dirty="0" err="1"/>
              <a:t>longo</a:t>
            </a:r>
            <a:r>
              <a:rPr lang="en-US" dirty="0"/>
              <a:t> do tempo.
Se </a:t>
            </a:r>
            <a:r>
              <a:rPr lang="en-US" dirty="0" err="1"/>
              <a:t>necessário</a:t>
            </a:r>
            <a:r>
              <a:rPr lang="en-US" dirty="0"/>
              <a:t>, </a:t>
            </a:r>
            <a:r>
              <a:rPr lang="en-US" dirty="0" err="1"/>
              <a:t>destacar</a:t>
            </a:r>
            <a:r>
              <a:rPr lang="en-US" dirty="0"/>
              <a:t> </a:t>
            </a:r>
            <a:r>
              <a:rPr lang="en-US" dirty="0" err="1"/>
              <a:t>apenas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três</a:t>
            </a:r>
            <a:r>
              <a:rPr lang="en-US" dirty="0"/>
              <a:t> </a:t>
            </a:r>
            <a:r>
              <a:rPr lang="en-US" dirty="0" err="1"/>
              <a:t>primeiros</a:t>
            </a:r>
            <a:r>
              <a:rPr lang="en-US" dirty="0"/>
              <a:t> </a:t>
            </a:r>
            <a:r>
              <a:rPr lang="en-US" dirty="0" err="1"/>
              <a:t>classificados</a:t>
            </a:r>
            <a:r>
              <a:rPr lang="en-US" dirty="0"/>
              <a:t> e a </a:t>
            </a:r>
            <a:r>
              <a:rPr lang="en-US" dirty="0" err="1"/>
              <a:t>diversidade</a:t>
            </a:r>
            <a:r>
              <a:rPr lang="en-US" dirty="0"/>
              <a:t> de </a:t>
            </a:r>
            <a:r>
              <a:rPr lang="en-US" dirty="0" err="1"/>
              <a:t>ligas</a:t>
            </a:r>
            <a:r>
              <a:rPr lang="en-US" dirty="0"/>
              <a:t> </a:t>
            </a:r>
            <a:r>
              <a:rPr lang="en-US" dirty="0" err="1"/>
              <a:t>representadas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um dos slides </a:t>
            </a:r>
            <a:r>
              <a:rPr lang="en-US" dirty="0" err="1"/>
              <a:t>mais</a:t>
            </a:r>
            <a:r>
              <a:rPr lang="en-US" dirty="0"/>
              <a:t> </a:t>
            </a:r>
            <a:r>
              <a:rPr lang="en-US" dirty="0" err="1"/>
              <a:t>intuitivos</a:t>
            </a:r>
            <a:r>
              <a:rPr lang="en-US" dirty="0"/>
              <a:t> para a </a:t>
            </a:r>
            <a:r>
              <a:rPr lang="en-US" dirty="0" err="1"/>
              <a:t>audiência</a:t>
            </a:r>
            <a:r>
              <a:rPr lang="en-US" dirty="0"/>
              <a:t>.
Vale a </a:t>
            </a:r>
            <a:r>
              <a:rPr lang="en-US" dirty="0" err="1"/>
              <a:t>pena</a:t>
            </a:r>
            <a:r>
              <a:rPr lang="en-US" dirty="0"/>
              <a:t> </a:t>
            </a:r>
            <a:r>
              <a:rPr lang="en-US" dirty="0" err="1"/>
              <a:t>apontar</a:t>
            </a:r>
            <a:r>
              <a:rPr lang="en-US" dirty="0"/>
              <a:t> a </a:t>
            </a:r>
            <a:r>
              <a:rPr lang="en-US" dirty="0" err="1"/>
              <a:t>inclinação</a:t>
            </a:r>
            <a:r>
              <a:rPr lang="en-US" dirty="0"/>
              <a:t> </a:t>
            </a:r>
            <a:r>
              <a:rPr lang="en-US" dirty="0" err="1"/>
              <a:t>positiva</a:t>
            </a:r>
            <a:r>
              <a:rPr lang="en-US" dirty="0"/>
              <a:t> das </a:t>
            </a:r>
            <a:r>
              <a:rPr lang="en-US" dirty="0" err="1"/>
              <a:t>linhas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liga</a:t>
            </a:r>
            <a:r>
              <a:rPr lang="en-US" dirty="0"/>
              <a:t> e </a:t>
            </a:r>
            <a:r>
              <a:rPr lang="en-US" dirty="0" err="1"/>
              <a:t>explicar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a </a:t>
            </a:r>
            <a:r>
              <a:rPr lang="en-US" dirty="0" err="1"/>
              <a:t>tendência</a:t>
            </a:r>
            <a:r>
              <a:rPr lang="en-US" dirty="0"/>
              <a:t>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depende</a:t>
            </a:r>
            <a:r>
              <a:rPr lang="en-US" dirty="0"/>
              <a:t> </a:t>
            </a:r>
            <a:r>
              <a:rPr lang="en-US" dirty="0" err="1"/>
              <a:t>apenas</a:t>
            </a:r>
            <a:r>
              <a:rPr lang="en-US" dirty="0"/>
              <a:t> de um </a:t>
            </a:r>
            <a:r>
              <a:rPr lang="en-US" dirty="0" err="1"/>
              <a:t>campeonato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pt-PT" dirty="0"/>
              <a:t>Isto sugere que a capacidade de criar mais e melhores oportunidades de golo está associada a melhores resultados desportivos. Naturalmente, o ataque não explica tudo por si só, porque há outros fatores importantes, como a consistência defensiva, a eficácia, o contexto competitivo e até a regularidade ao longo da época. No entanto, este gráfico mostra claramente que o rendimento ofensivo é um dos sinais mais fortes de sucesso.</a:t>
            </a:r>
            <a:r>
              <a:rPr lang="en-US" dirty="0"/>
              <a:t>
A </a:t>
            </a:r>
            <a:r>
              <a:rPr lang="en-US" dirty="0" err="1"/>
              <a:t>mensagem</a:t>
            </a:r>
            <a:r>
              <a:rPr lang="en-US" dirty="0"/>
              <a:t> final </a:t>
            </a:r>
            <a:r>
              <a:rPr lang="en-US" dirty="0" err="1"/>
              <a:t>deve</a:t>
            </a:r>
            <a:r>
              <a:rPr lang="en-US" dirty="0"/>
              <a:t> ser simples: </a:t>
            </a:r>
            <a:r>
              <a:rPr lang="en-US" dirty="0" err="1"/>
              <a:t>equipas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produzem</a:t>
            </a:r>
            <a:r>
              <a:rPr lang="en-US" dirty="0"/>
              <a:t> </a:t>
            </a:r>
            <a:r>
              <a:rPr lang="en-US" dirty="0" err="1"/>
              <a:t>melhor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ataque</a:t>
            </a:r>
            <a:r>
              <a:rPr lang="en-US" dirty="0"/>
              <a:t> </a:t>
            </a:r>
            <a:r>
              <a:rPr lang="en-US" dirty="0" err="1"/>
              <a:t>acumulam</a:t>
            </a:r>
            <a:r>
              <a:rPr lang="en-US" dirty="0"/>
              <a:t> </a:t>
            </a:r>
            <a:r>
              <a:rPr lang="en-US" dirty="0" err="1"/>
              <a:t>mais</a:t>
            </a:r>
            <a:r>
              <a:rPr lang="en-US" dirty="0"/>
              <a:t> </a:t>
            </a:r>
            <a:r>
              <a:rPr lang="en-US" dirty="0" err="1"/>
              <a:t>pontos</a:t>
            </a:r>
            <a:r>
              <a:rPr lang="en-US" dirty="0"/>
              <a:t> </a:t>
            </a:r>
            <a:r>
              <a:rPr lang="en-US" dirty="0" err="1"/>
              <a:t>ao</a:t>
            </a:r>
            <a:r>
              <a:rPr lang="en-US" dirty="0"/>
              <a:t> </a:t>
            </a:r>
            <a:r>
              <a:rPr lang="en-US" dirty="0" err="1"/>
              <a:t>longo</a:t>
            </a:r>
            <a:r>
              <a:rPr lang="en-US" dirty="0"/>
              <a:t> da </a:t>
            </a:r>
            <a:r>
              <a:rPr lang="en-US" dirty="0" err="1"/>
              <a:t>época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Variaveis</a:t>
            </a:r>
            <a:r>
              <a:rPr lang="en-US" dirty="0"/>
              <a:t>: </a:t>
            </a:r>
          </a:p>
          <a:p>
            <a:r>
              <a:rPr lang="pt-PT" dirty="0" err="1"/>
              <a:t>xG</a:t>
            </a:r>
            <a:r>
              <a:rPr lang="pt-PT" dirty="0"/>
              <a:t> - golos esperados</a:t>
            </a:r>
          </a:p>
          <a:p>
            <a:r>
              <a:rPr lang="pt-PT" dirty="0" err="1"/>
              <a:t>xGA</a:t>
            </a:r>
            <a:r>
              <a:rPr lang="pt-PT" dirty="0"/>
              <a:t> - golos esperados sofridos</a:t>
            </a:r>
          </a:p>
          <a:p>
            <a:r>
              <a:rPr lang="pt-PT" dirty="0" err="1"/>
              <a:t>npxG</a:t>
            </a:r>
            <a:r>
              <a:rPr lang="pt-PT" dirty="0"/>
              <a:t> - golos esperados sem penalty</a:t>
            </a:r>
          </a:p>
          <a:p>
            <a:r>
              <a:rPr lang="pt-PT" dirty="0" err="1"/>
              <a:t>npxGA</a:t>
            </a:r>
            <a:r>
              <a:rPr lang="pt-PT" dirty="0"/>
              <a:t> - golos esperados sofridos sem penalty</a:t>
            </a:r>
          </a:p>
          <a:p>
            <a:endParaRPr lang="en-US" dirty="0"/>
          </a:p>
          <a:p>
            <a:r>
              <a:rPr lang="en-US" dirty="0"/>
              <a:t>Primeiro, </a:t>
            </a:r>
            <a:r>
              <a:rPr lang="en-US" dirty="0" err="1"/>
              <a:t>explicar</a:t>
            </a:r>
            <a:r>
              <a:rPr lang="en-US" dirty="0"/>
              <a:t> o </a:t>
            </a:r>
            <a:r>
              <a:rPr lang="en-US" dirty="0" err="1"/>
              <a:t>objetivo</a:t>
            </a:r>
            <a:r>
              <a:rPr lang="en-US" dirty="0"/>
              <a:t> da </a:t>
            </a:r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r>
              <a:rPr lang="en-US" dirty="0"/>
              <a:t> de forma </a:t>
            </a:r>
            <a:r>
              <a:rPr lang="en-US" dirty="0" err="1"/>
              <a:t>muito</a:t>
            </a:r>
            <a:r>
              <a:rPr lang="en-US" dirty="0"/>
              <a:t> </a:t>
            </a:r>
            <a:r>
              <a:rPr lang="en-US" dirty="0" err="1"/>
              <a:t>direta</a:t>
            </a:r>
            <a:r>
              <a:rPr lang="en-US" dirty="0"/>
              <a:t>.
</a:t>
            </a:r>
            <a:r>
              <a:rPr lang="en-US" dirty="0" err="1"/>
              <a:t>Depois</a:t>
            </a:r>
            <a:r>
              <a:rPr lang="en-US" dirty="0"/>
              <a:t>, </a:t>
            </a:r>
            <a:r>
              <a:rPr lang="en-US" dirty="0" err="1"/>
              <a:t>ler</a:t>
            </a:r>
            <a:r>
              <a:rPr lang="en-US" dirty="0"/>
              <a:t> </a:t>
            </a:r>
            <a:r>
              <a:rPr lang="en-US" dirty="0" err="1"/>
              <a:t>rapidamente</a:t>
            </a:r>
            <a:r>
              <a:rPr lang="en-US" dirty="0"/>
              <a:t> as </a:t>
            </a:r>
            <a:r>
              <a:rPr lang="en-US" dirty="0" err="1"/>
              <a:t>matrizes</a:t>
            </a:r>
            <a:r>
              <a:rPr lang="en-US" dirty="0"/>
              <a:t> de </a:t>
            </a:r>
            <a:r>
              <a:rPr lang="en-US" dirty="0" err="1"/>
              <a:t>confusão</a:t>
            </a:r>
            <a:r>
              <a:rPr lang="en-US" dirty="0"/>
              <a:t>: a </a:t>
            </a:r>
            <a:r>
              <a:rPr lang="en-US" dirty="0" err="1"/>
              <a:t>maior</a:t>
            </a:r>
            <a:r>
              <a:rPr lang="en-US" dirty="0"/>
              <a:t> </a:t>
            </a:r>
            <a:r>
              <a:rPr lang="en-US" dirty="0" err="1"/>
              <a:t>força</a:t>
            </a:r>
            <a:r>
              <a:rPr lang="en-US" dirty="0"/>
              <a:t> dos </a:t>
            </a:r>
            <a:r>
              <a:rPr lang="en-US" dirty="0" err="1"/>
              <a:t>modelos</a:t>
            </a:r>
            <a:r>
              <a:rPr lang="en-US" dirty="0"/>
              <a:t> </a:t>
            </a:r>
            <a:r>
              <a:rPr lang="en-US" dirty="0" err="1"/>
              <a:t>está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reconhecer</a:t>
            </a:r>
            <a:r>
              <a:rPr lang="en-US" dirty="0"/>
              <a:t> </a:t>
            </a:r>
            <a:r>
              <a:rPr lang="en-US" dirty="0" err="1"/>
              <a:t>jogos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a </a:t>
            </a:r>
            <a:r>
              <a:rPr lang="en-US" dirty="0" err="1"/>
              <a:t>equipa</a:t>
            </a:r>
            <a:r>
              <a:rPr lang="en-US" dirty="0"/>
              <a:t> soma </a:t>
            </a:r>
            <a:r>
              <a:rPr lang="en-US" dirty="0" err="1"/>
              <a:t>pontos</a:t>
            </a:r>
            <a:r>
              <a:rPr lang="en-US" dirty="0"/>
              <a:t>.
</a:t>
            </a:r>
            <a:r>
              <a:rPr lang="en-US" dirty="0" err="1"/>
              <a:t>Também</a:t>
            </a:r>
            <a:r>
              <a:rPr lang="en-US" dirty="0"/>
              <a:t> </a:t>
            </a:r>
            <a:r>
              <a:rPr lang="en-US" dirty="0" err="1"/>
              <a:t>importa</a:t>
            </a:r>
            <a:r>
              <a:rPr lang="en-US" dirty="0"/>
              <a:t> </a:t>
            </a:r>
            <a:r>
              <a:rPr lang="en-US" dirty="0" err="1"/>
              <a:t>dizer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prever</a:t>
            </a:r>
            <a:r>
              <a:rPr lang="en-US" dirty="0"/>
              <a:t> </a:t>
            </a:r>
            <a:r>
              <a:rPr lang="en-US" dirty="0" err="1"/>
              <a:t>derrotas</a:t>
            </a:r>
            <a:r>
              <a:rPr lang="en-US" dirty="0"/>
              <a:t> continua a ser a </a:t>
            </a:r>
            <a:r>
              <a:rPr lang="en-US" dirty="0" err="1"/>
              <a:t>parte</a:t>
            </a:r>
            <a:r>
              <a:rPr lang="en-US" dirty="0"/>
              <a:t> </a:t>
            </a:r>
            <a:r>
              <a:rPr lang="en-US" dirty="0" err="1"/>
              <a:t>mais</a:t>
            </a:r>
            <a:r>
              <a:rPr lang="en-US" dirty="0"/>
              <a:t> </a:t>
            </a:r>
            <a:r>
              <a:rPr lang="en-US" dirty="0" err="1"/>
              <a:t>exigente</a:t>
            </a:r>
            <a:r>
              <a:rPr lang="en-US" dirty="0"/>
              <a:t> do </a:t>
            </a:r>
            <a:r>
              <a:rPr lang="en-US" dirty="0" err="1"/>
              <a:t>problema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Este slide encerra a fase de modelação e mostra dois aspetos essenciais: a capacidade preditiva dos modelos e a interpretação das variáveis mais influentes.</a:t>
            </a:r>
          </a:p>
          <a:p>
            <a:r>
              <a:rPr lang="pt-PT" dirty="0"/>
              <a:t>Começo pela curva ROC, porque ela permite avaliar se o modelo consegue distinguir equipas com melhor e pior desempenho de forma consistente. Quanto mais a curva se afastar da linha diagonal, que representa uma classificação ao acaso, melhor é a capacidade de separação do modelo. Assim, a mensagem principal aqui é que o modelo não está a adivinhar: existe efetivamente sinal útil nos dados.</a:t>
            </a:r>
          </a:p>
          <a:p>
            <a:r>
              <a:rPr lang="pt-PT" dirty="0"/>
              <a:t>Depois, passo para a importância das variáveis, porque esta análise ajuda a perceber quais os fatores que mais contribuem para as previsões. Neste caso, observa-se que variáveis ligadas à produção ofensiva e à solidez defensiva surgem entre as mais relevantes, o que reforça uma ideia já identificada ao longo da análise exploratória: o desempenho das equipas depende muito do equilíbrio entre a capacidade de criar oportunidades e a capacidade de limitar o adversário.</a:t>
            </a:r>
          </a:p>
          <a:p>
            <a:r>
              <a:rPr lang="pt-PT" dirty="0"/>
              <a:t>Em termos práticos, este slide mostra que os modelos têm utilidade analítica e que os resultados fazem sentido do ponto de vista futebolístico, porque confirmam padrões coerentes com o jogo.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Fechar</a:t>
            </a:r>
            <a:r>
              <a:rPr lang="en-US" dirty="0"/>
              <a:t> a </a:t>
            </a:r>
            <a:r>
              <a:rPr lang="en-US" dirty="0" err="1"/>
              <a:t>apresentação</a:t>
            </a:r>
            <a:r>
              <a:rPr lang="en-US" dirty="0"/>
              <a:t> com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síntese</a:t>
            </a:r>
            <a:r>
              <a:rPr lang="en-US" dirty="0"/>
              <a:t> </a:t>
            </a:r>
            <a:r>
              <a:rPr lang="en-US" dirty="0" err="1"/>
              <a:t>muito</a:t>
            </a:r>
            <a:r>
              <a:rPr lang="en-US" dirty="0"/>
              <a:t> </a:t>
            </a:r>
            <a:r>
              <a:rPr lang="en-US" dirty="0" err="1"/>
              <a:t>clara</a:t>
            </a:r>
            <a:r>
              <a:rPr lang="en-US" dirty="0"/>
              <a:t> e </a:t>
            </a:r>
            <a:r>
              <a:rPr lang="en-US" dirty="0" err="1"/>
              <a:t>verbalizável</a:t>
            </a:r>
            <a:r>
              <a:rPr lang="en-US" dirty="0"/>
              <a:t>.
Se </a:t>
            </a:r>
            <a:r>
              <a:rPr lang="en-US" dirty="0" err="1"/>
              <a:t>houver</a:t>
            </a:r>
            <a:r>
              <a:rPr lang="en-US" dirty="0"/>
              <a:t> tempo para </a:t>
            </a:r>
            <a:r>
              <a:rPr lang="en-US" dirty="0" err="1"/>
              <a:t>apenas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ideia</a:t>
            </a:r>
            <a:r>
              <a:rPr lang="en-US" dirty="0"/>
              <a:t> final, usar a </a:t>
            </a:r>
            <a:r>
              <a:rPr lang="en-US" dirty="0" err="1"/>
              <a:t>frase</a:t>
            </a:r>
            <a:r>
              <a:rPr lang="en-US" dirty="0"/>
              <a:t> da </a:t>
            </a:r>
            <a:r>
              <a:rPr lang="en-US" dirty="0" err="1"/>
              <a:t>caixa</a:t>
            </a:r>
            <a:r>
              <a:rPr lang="en-US" dirty="0"/>
              <a:t>: o </a:t>
            </a:r>
            <a:r>
              <a:rPr lang="en-US" dirty="0" err="1"/>
              <a:t>sucesso</a:t>
            </a:r>
            <a:r>
              <a:rPr lang="en-US" dirty="0"/>
              <a:t> </a:t>
            </a:r>
            <a:r>
              <a:rPr lang="en-US" dirty="0" err="1"/>
              <a:t>sustentável</a:t>
            </a:r>
            <a:r>
              <a:rPr lang="en-US" dirty="0"/>
              <a:t> </a:t>
            </a:r>
            <a:r>
              <a:rPr lang="en-US" dirty="0" err="1"/>
              <a:t>vem</a:t>
            </a:r>
            <a:r>
              <a:rPr lang="en-US" dirty="0"/>
              <a:t> do </a:t>
            </a:r>
            <a:r>
              <a:rPr lang="en-US" dirty="0" err="1"/>
              <a:t>equilíbrio</a:t>
            </a:r>
            <a:r>
              <a:rPr lang="en-US" dirty="0"/>
              <a:t> entre </a:t>
            </a:r>
            <a:r>
              <a:rPr lang="en-US" dirty="0" err="1"/>
              <a:t>ataque</a:t>
            </a:r>
            <a:r>
              <a:rPr lang="en-US" dirty="0"/>
              <a:t>, </a:t>
            </a:r>
            <a:r>
              <a:rPr lang="en-US" dirty="0" err="1"/>
              <a:t>defesa</a:t>
            </a:r>
            <a:r>
              <a:rPr lang="en-US" dirty="0"/>
              <a:t> e </a:t>
            </a:r>
            <a:r>
              <a:rPr lang="en-US" dirty="0" err="1"/>
              <a:t>consistência</a:t>
            </a:r>
            <a:r>
              <a:rPr lang="en-US"/>
              <a:t>.
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HI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1338560" y="641908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‹#›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960120"/>
            <a:ext cx="5394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Desempenho no Futebol</a:t>
            </a:r>
            <a:endParaRPr lang="en-US" sz="2700" dirty="0"/>
          </a:p>
          <a:p>
            <a:pPr marL="0" indent="0">
              <a:buNone/>
            </a:pPr>
            <a:r>
              <a:rPr lang="en-US" sz="27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 Sucesso das Equipas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31520" y="2225282"/>
            <a:ext cx="4983480" cy="1774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5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U.C. </a:t>
            </a:r>
            <a:r>
              <a:rPr lang="en-US" sz="1600" dirty="0" err="1">
                <a:solidFill>
                  <a:srgbClr val="5B65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Visualização</a:t>
            </a:r>
            <a:r>
              <a:rPr lang="en-US" sz="1600" dirty="0">
                <a:solidFill>
                  <a:srgbClr val="5B65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de Dados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5B6573"/>
                </a:solidFill>
                <a:latin typeface="Aptos" pitchFamily="34" charset="0"/>
              </a:rPr>
              <a:t>Prof. Maryam Abbasi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B65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Escola Superior de Gestão e </a:t>
            </a:r>
            <a:r>
              <a:rPr lang="en-US" sz="1600" dirty="0" err="1">
                <a:solidFill>
                  <a:srgbClr val="5B65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Tecnologia</a:t>
            </a:r>
            <a:endParaRPr lang="en-US" sz="1600" dirty="0">
              <a:solidFill>
                <a:srgbClr val="5B6573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5B65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Instituto Politécnico de Santarém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B65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Isaac Mendes, Rodrigo Calado &amp; Tiago Amorim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4470362"/>
            <a:ext cx="1005840" cy="0"/>
          </a:xfrm>
          <a:prstGeom prst="line">
            <a:avLst/>
          </a:prstGeom>
          <a:noFill/>
          <a:ln w="3175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13232" y="4555265"/>
            <a:ext cx="4609603" cy="572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Compreender que métricas explicam o sucesso e até que ponto o resultado do jogo pode ser previsto.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802164" y="845819"/>
            <a:ext cx="5719276" cy="5166360"/>
          </a:xfrm>
          <a:prstGeom prst="roundRect">
            <a:avLst>
              <a:gd name="adj" fmla="val 1441"/>
            </a:avLst>
          </a:prstGeom>
          <a:solidFill>
            <a:srgbClr val="FBFDFC"/>
          </a:solidFill>
          <a:ln w="12700">
            <a:solidFill>
              <a:srgbClr val="D7E5DB"/>
            </a:solidFill>
            <a:prstDash val="solid"/>
          </a:ln>
          <a:effectLst>
            <a:outerShdw blurRad="1905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pic>
        <p:nvPicPr>
          <p:cNvPr id="8" name="Image 0" descr="/mnt/data/ppt_work/assets/xg_sucess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1085" y="1739784"/>
            <a:ext cx="5021433" cy="337842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 dirty="0"/>
          </a:p>
        </p:txBody>
      </p:sp>
      <p:pic>
        <p:nvPicPr>
          <p:cNvPr id="1026" name="Picture 2" descr="Cursos – Politécnico de Santarém">
            <a:extLst>
              <a:ext uri="{FF2B5EF4-FFF2-40B4-BE49-F238E27FC236}">
                <a16:creationId xmlns:a16="http://schemas.microsoft.com/office/drawing/2014/main" id="{19675799-9016-D6AA-488F-DAB3EECE62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46510" y="5994251"/>
            <a:ext cx="3092823" cy="884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Conjunto de dados e método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04672"/>
            <a:ext cx="1097280" cy="0"/>
          </a:xfrm>
          <a:prstGeom prst="line">
            <a:avLst/>
          </a:prstGeom>
          <a:noFill/>
          <a:ln w="28575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93268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5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empírica e etapas da análise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52729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24 580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40080" y="1908761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5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observações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237945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31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40080" y="2493977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5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variáveis originais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823161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168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640080" y="3079193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5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equipas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3408377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640080" y="3664409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5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ligas europeias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993593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2014–2020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40080" y="4249625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5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intervalo temporal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98648" y="1652729"/>
            <a:ext cx="44403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de dados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898647" y="1927049"/>
            <a:ext cx="4440395" cy="1920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Dados por jogo nas ligas Bundesliga, EPL, La Liga, Ligue 1, RFPL e Serie A.</a:t>
            </a:r>
            <a:endParaRPr lang="en-US" sz="16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Inclui métricas ofensivas e defensivas como xG, xGA, npxG, npxGA, PPDA, deep e xPts.</a:t>
            </a:r>
            <a:endParaRPr lang="en-US" sz="16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 data foi convertida logo no </a:t>
            </a:r>
            <a:r>
              <a:rPr lang="en-US" sz="1600" dirty="0" err="1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carregamento</a:t>
            </a: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para suportar análise temporal e agregação por época.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668488" y="1652565"/>
            <a:ext cx="24752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Preparação e modelação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68488" y="1926885"/>
            <a:ext cx="4099415" cy="1920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Foram removidas variáveis com leakage, como year, wins, draws e loses.</a:t>
            </a:r>
            <a:endParaRPr lang="en-US" sz="16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 análise combinou EDA, correlações, agregação por época e classificação binária.</a:t>
            </a:r>
            <a:endParaRPr lang="en-US" sz="16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Modelos testados: Regressão Logística e Random Forest.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465576" y="4807409"/>
            <a:ext cx="1097280" cy="0"/>
          </a:xfrm>
          <a:prstGeom prst="line">
            <a:avLst/>
          </a:prstGeom>
          <a:noFill/>
          <a:ln w="19050">
            <a:solidFill>
              <a:srgbClr val="B8C7B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522976" y="4807409"/>
            <a:ext cx="1097280" cy="0"/>
          </a:xfrm>
          <a:prstGeom prst="line">
            <a:avLst/>
          </a:prstGeom>
          <a:noFill/>
          <a:ln w="19050">
            <a:solidFill>
              <a:srgbClr val="B8C7B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668488" y="4777280"/>
            <a:ext cx="1097280" cy="0"/>
          </a:xfrm>
          <a:prstGeom prst="line">
            <a:avLst/>
          </a:prstGeom>
          <a:noFill/>
          <a:ln w="19050">
            <a:solidFill>
              <a:srgbClr val="B8C7B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715768" y="4487369"/>
            <a:ext cx="621792" cy="621792"/>
          </a:xfrm>
          <a:prstGeom prst="ellipse">
            <a:avLst/>
          </a:prstGeom>
          <a:solidFill>
            <a:srgbClr val="F3FBF6"/>
          </a:solidFill>
          <a:ln w="1905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715768" y="4715969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2514600" y="5218889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Carregar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 preparar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773168" y="4487369"/>
            <a:ext cx="621792" cy="621792"/>
          </a:xfrm>
          <a:prstGeom prst="ellipse">
            <a:avLst/>
          </a:prstGeom>
          <a:solidFill>
            <a:srgbClr val="F3FBF6"/>
          </a:solidFill>
          <a:ln w="1905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773168" y="4705575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572000" y="5218889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Explorar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métricas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830568" y="4487369"/>
            <a:ext cx="621792" cy="621792"/>
          </a:xfrm>
          <a:prstGeom prst="ellipse">
            <a:avLst/>
          </a:prstGeom>
          <a:solidFill>
            <a:srgbClr val="F3FBF6"/>
          </a:solidFill>
          <a:ln w="1905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830568" y="4714916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629400" y="5218889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Agregação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 época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887968" y="4487369"/>
            <a:ext cx="621792" cy="621792"/>
          </a:xfrm>
          <a:prstGeom prst="ellipse">
            <a:avLst/>
          </a:prstGeom>
          <a:solidFill>
            <a:srgbClr val="F3FBF6"/>
          </a:solidFill>
          <a:ln w="1905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887968" y="4715969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686800" y="5218889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Prever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resultado</a:t>
            </a:r>
            <a:endParaRPr lang="en-US" sz="14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Explicação das variáveis utilizadas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04672"/>
            <a:ext cx="1097280" cy="0"/>
          </a:xfrm>
          <a:prstGeom prst="line">
            <a:avLst/>
          </a:prstGeom>
          <a:noFill/>
          <a:ln w="28575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93268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5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Leitura rápida das métricas usadas na análise e na modelação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04672" y="1481328"/>
            <a:ext cx="5257800" cy="1508760"/>
          </a:xfrm>
          <a:prstGeom prst="roundRect">
            <a:avLst>
              <a:gd name="adj" fmla="val 3030"/>
            </a:avLst>
          </a:prstGeom>
          <a:solidFill>
            <a:srgbClr val="F8FBF9"/>
          </a:solidFill>
          <a:ln w="12700">
            <a:solidFill>
              <a:srgbClr val="C9D8CC"/>
            </a:solidFill>
            <a:prstDash val="solid"/>
          </a:ln>
          <a:effectLst>
            <a:outerShdw blurRad="15240" dist="508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50976" y="1591056"/>
            <a:ext cx="4965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Métricas ofensivas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50976" y="1828800"/>
            <a:ext cx="496519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xG: golos esperados, isto é, a qualidade das ocasiões criadas.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npxG: versão do xG sem penáltis.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deep: entradas com bola em zonas avançadas/perigosas.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72200" y="1481328"/>
            <a:ext cx="5212080" cy="1508760"/>
          </a:xfrm>
          <a:prstGeom prst="roundRect">
            <a:avLst>
              <a:gd name="adj" fmla="val 3030"/>
            </a:avLst>
          </a:prstGeom>
          <a:solidFill>
            <a:srgbClr val="F8FBF9"/>
          </a:solidFill>
          <a:ln w="12700">
            <a:solidFill>
              <a:srgbClr val="C9D8CC"/>
            </a:solidFill>
            <a:prstDash val="solid"/>
          </a:ln>
          <a:effectLst>
            <a:outerShdw blurRad="15240" dist="508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318504" y="1591056"/>
            <a:ext cx="4919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Métricas defensivas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18504" y="1828800"/>
            <a:ext cx="491947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xGA: golos esperados concedidos ao adversário.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npxGA: versão do xGA sem penáltis.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deep_allowed: entradas perigosas que a equipa permite.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72" y="3246120"/>
            <a:ext cx="5257800" cy="1554480"/>
          </a:xfrm>
          <a:prstGeom prst="roundRect">
            <a:avLst>
              <a:gd name="adj" fmla="val 2941"/>
            </a:avLst>
          </a:prstGeom>
          <a:solidFill>
            <a:srgbClr val="F8FBF9"/>
          </a:solidFill>
          <a:ln w="12700">
            <a:solidFill>
              <a:srgbClr val="C9D8CC"/>
            </a:solidFill>
            <a:prstDash val="solid"/>
          </a:ln>
          <a:effectLst>
            <a:outerShdw blurRad="15240" dist="508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50976" y="3355848"/>
            <a:ext cx="4965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Pressão e intensidade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50976" y="3593592"/>
            <a:ext cx="496519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PPDA: quantos passes o adversário consegue fazer antes de uma ação defensiva; valores mais baixos sugerem maior pressão.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OPPDA: a mesma lógica, mas observada do lado do adversário.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72200" y="3246120"/>
            <a:ext cx="5212080" cy="1554480"/>
          </a:xfrm>
          <a:prstGeom prst="roundRect">
            <a:avLst>
              <a:gd name="adj" fmla="val 2941"/>
            </a:avLst>
          </a:prstGeom>
          <a:solidFill>
            <a:srgbClr val="F8FBF9"/>
          </a:solidFill>
          <a:ln w="12700">
            <a:solidFill>
              <a:srgbClr val="C9D8CC"/>
            </a:solidFill>
            <a:prstDash val="solid"/>
          </a:ln>
          <a:effectLst>
            <a:outerShdw blurRad="15240" dist="508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18504" y="3355848"/>
            <a:ext cx="4919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Síntese e valor esperado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18504" y="3593592"/>
            <a:ext cx="491947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npxGD = npxG - npxGA, ou seja, saldo ofensivo-defensivo sem penáltis.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xPts: pontos esperados segundo o desempenho do jogo.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xPts_diff: diferença entre pontos reais e pontos esperados.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04672" y="5065776"/>
            <a:ext cx="10579608" cy="822960"/>
          </a:xfrm>
          <a:prstGeom prst="roundRect">
            <a:avLst>
              <a:gd name="adj" fmla="val 7317"/>
            </a:avLst>
          </a:prstGeom>
          <a:solidFill>
            <a:srgbClr val="F8FBF9"/>
          </a:solidFill>
          <a:ln w="12700">
            <a:solidFill>
              <a:srgbClr val="C9D8CC"/>
            </a:solidFill>
            <a:prstDash val="solid"/>
          </a:ln>
          <a:effectLst>
            <a:outerShdw blurRad="1905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69264" y="5175504"/>
            <a:ext cx="10250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Ligação ao modelo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69264" y="5449824"/>
            <a:ext cx="10250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modelo final, o alvo é “ganhar pontos”: vitória ou empate = 1; derrota = 0. Assim, estas variáveis servem para explicar o rendimento antes do resultado final.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Factores contextuais e sucesso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04672"/>
            <a:ext cx="1097280" cy="0"/>
          </a:xfrm>
          <a:prstGeom prst="line">
            <a:avLst/>
          </a:prstGeom>
          <a:noFill/>
          <a:ln w="28575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93268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PT" sz="1400" dirty="0">
                <a:solidFill>
                  <a:srgbClr val="5B65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Os fatores contextuais, como a liga ou o local do jogo, influenciam o sucesso da equipa?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1" y="1706101"/>
            <a:ext cx="4030596" cy="280784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• Entre ligas, a média de pontos por jogo quase </a:t>
            </a:r>
            <a:r>
              <a:rPr lang="en-US" dirty="0" err="1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não</a:t>
            </a: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muda</a:t>
            </a: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, oscila apenas entre 1,36 e 1,38.</a:t>
            </a:r>
            <a:endParaRPr lang="en-US" dirty="0">
              <a:latin typeface="+mj-lt"/>
            </a:endParaRPr>
          </a:p>
          <a:p>
            <a:pPr marL="0" indent="0">
              <a:spcAft>
                <a:spcPts val="1200"/>
              </a:spcAft>
              <a:buNone/>
            </a:pP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• O </a:t>
            </a:r>
            <a:r>
              <a:rPr lang="en-US" dirty="0" err="1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efeito</a:t>
            </a: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 “</a:t>
            </a:r>
            <a:r>
              <a:rPr lang="en-US" dirty="0" err="1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em</a:t>
            </a: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 casa” é claro, as </a:t>
            </a:r>
            <a:r>
              <a:rPr lang="en-US" dirty="0" err="1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equipas</a:t>
            </a: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 fazem 1,60 </a:t>
            </a:r>
            <a:r>
              <a:rPr lang="en-US" dirty="0" err="1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pontos</a:t>
            </a: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em</a:t>
            </a: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média</a:t>
            </a: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, face a 1,15 fora.</a:t>
            </a:r>
            <a:endParaRPr lang="en-US" dirty="0">
              <a:latin typeface="+mj-lt"/>
            </a:endParaRPr>
          </a:p>
          <a:p>
            <a:pPr marL="0" indent="0">
              <a:spcAft>
                <a:spcPts val="1200"/>
              </a:spcAft>
              <a:buNone/>
            </a:pP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• O resultado mapeia diretamente </a:t>
            </a:r>
            <a:r>
              <a:rPr lang="en-US" dirty="0" err="1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os</a:t>
            </a: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pontos</a:t>
            </a: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, </a:t>
            </a:r>
            <a:r>
              <a:rPr lang="en-US" dirty="0" err="1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onde</a:t>
            </a: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, </a:t>
            </a:r>
            <a:r>
              <a:rPr lang="en-US" dirty="0" err="1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vitória</a:t>
            </a: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 = 3, empate = 1 e derrota = 0.</a:t>
            </a:r>
            <a:endParaRPr lang="en-US" dirty="0">
              <a:latin typeface="+mj-lt"/>
            </a:endParaRPr>
          </a:p>
        </p:txBody>
      </p:sp>
      <p:pic>
        <p:nvPicPr>
          <p:cNvPr id="6" name="Image 0" descr="/mnt/data/ppt_work/assets/contex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596" y="2050627"/>
            <a:ext cx="6629400" cy="211879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205918" y="4818477"/>
            <a:ext cx="7780163" cy="960120"/>
          </a:xfrm>
          <a:prstGeom prst="roundRect">
            <a:avLst>
              <a:gd name="adj" fmla="val 5714"/>
            </a:avLst>
          </a:prstGeom>
          <a:solidFill>
            <a:srgbClr val="F8FBF9"/>
          </a:solidFill>
          <a:ln w="12700">
            <a:solidFill>
              <a:srgbClr val="C9D8CC"/>
            </a:solidFill>
            <a:prstDash val="solid"/>
          </a:ln>
          <a:effectLst>
            <a:outerShdw blurRad="1905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2370510" y="4902567"/>
            <a:ext cx="7451110" cy="208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Leitura rápida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2370510" y="5202525"/>
            <a:ext cx="745111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contexto competitivo tem pouco peso entre ligas, mas jogar em casa continua a ser uma vantagem estrutural.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Métricas de jogo e resultado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04672"/>
            <a:ext cx="1097280" cy="0"/>
          </a:xfrm>
          <a:prstGeom prst="line">
            <a:avLst/>
          </a:prstGeom>
          <a:noFill/>
          <a:ln w="28575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93268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PT" sz="1400" dirty="0">
                <a:solidFill>
                  <a:srgbClr val="5B65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que forma os indicadores de desempenho se relacionam com os resultados dos jogos? 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809097"/>
            <a:ext cx="3749040" cy="3798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• Quanto mais golos uma equipa marca, maior é a probabilidade de sair com </a:t>
            </a:r>
            <a:r>
              <a:rPr lang="en-US" dirty="0" err="1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pontos</a:t>
            </a: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, sobretudo com </a:t>
            </a:r>
            <a:r>
              <a:rPr lang="en-US" dirty="0" err="1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vitória</a:t>
            </a: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.</a:t>
            </a:r>
            <a:endParaRPr lang="en-US" dirty="0">
              <a:latin typeface="+mj-lt"/>
            </a:endParaRPr>
          </a:p>
          <a:p>
            <a:pPr marL="0" indent="0">
              <a:spcAft>
                <a:spcPts val="1200"/>
              </a:spcAft>
              <a:buNone/>
            </a:pP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• Pelo contrário, sofrer mais golos empurra claramente o jogo para a </a:t>
            </a:r>
            <a:r>
              <a:rPr lang="en-US" dirty="0" err="1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derrota</a:t>
            </a: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.</a:t>
            </a:r>
            <a:endParaRPr lang="en-US" dirty="0">
              <a:latin typeface="+mj-lt"/>
            </a:endParaRPr>
          </a:p>
          <a:p>
            <a:pPr marL="0" indent="0">
              <a:spcAft>
                <a:spcPts val="1200"/>
              </a:spcAft>
              <a:buNone/>
            </a:pP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• As equipas vencedoras tendem a ter melhor xPts e a superar o que seria esperado no </a:t>
            </a:r>
            <a:r>
              <a:rPr lang="en-US" dirty="0" err="1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encontro</a:t>
            </a: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.</a:t>
            </a:r>
            <a:endParaRPr lang="en-US" dirty="0">
              <a:latin typeface="+mj-lt"/>
            </a:endParaRPr>
          </a:p>
          <a:p>
            <a:pPr marL="0" indent="0">
              <a:spcAft>
                <a:spcPts val="1200"/>
              </a:spcAft>
              <a:buNone/>
            </a:pP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• As derrotadas mostram o padrão inverso: menos produção e pior alinhamento com o resultado desejado.</a:t>
            </a:r>
            <a:endParaRPr lang="en-US" dirty="0">
              <a:latin typeface="+mj-lt"/>
            </a:endParaRPr>
          </a:p>
        </p:txBody>
      </p:sp>
      <p:pic>
        <p:nvPicPr>
          <p:cNvPr id="6" name="Image 0" descr="/mnt/data/ppt_work/assets/metricas_result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705433"/>
            <a:ext cx="6720840" cy="400557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Variáveis mais ligadas ao sucesso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04672"/>
            <a:ext cx="1097280" cy="0"/>
          </a:xfrm>
          <a:prstGeom prst="line">
            <a:avLst/>
          </a:prstGeom>
          <a:noFill/>
          <a:ln w="28575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93268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PT" sz="1400" dirty="0">
                <a:solidFill>
                  <a:srgbClr val="5B65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Quais são as variáveis mais fortemente correlacionadas com o sucesso da equipa?</a:t>
            </a:r>
            <a:endParaRPr lang="en-US" sz="1400" dirty="0"/>
          </a:p>
        </p:txBody>
      </p:sp>
      <p:pic>
        <p:nvPicPr>
          <p:cNvPr id="5" name="Image 0" descr="/mnt/data/ppt_work/assets/correlaco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684760"/>
            <a:ext cx="4892040" cy="40462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80760" y="1636776"/>
            <a:ext cx="4709160" cy="2852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• Os pontos têm correlação positiva forte com os golos marcados (0,66) e com xPts (0,60).</a:t>
            </a:r>
          </a:p>
          <a:p>
            <a:pPr marL="0" indent="0">
              <a:buNone/>
            </a:pPr>
            <a:endParaRPr lang="en-US" dirty="0">
              <a:latin typeface="+mj-lt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• Sofrer golos surge com correlação negativa forte (-0,60), confirmando o peso da organização </a:t>
            </a:r>
            <a:r>
              <a:rPr lang="en-US" dirty="0" err="1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defensiva</a:t>
            </a: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.</a:t>
            </a:r>
          </a:p>
          <a:p>
            <a:pPr marL="0" indent="0">
              <a:buNone/>
            </a:pPr>
            <a:endParaRPr lang="en-US" dirty="0">
              <a:latin typeface="+mj-lt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• A variável xPts_diff apresenta a ligação mais intensa (-0,78), sugerindo que ficar aquém do esperado penaliza fortemente o resultado.</a:t>
            </a:r>
            <a:endParaRPr lang="en-US" dirty="0">
              <a:latin typeface="+mj-lt"/>
            </a:endParaRPr>
          </a:p>
        </p:txBody>
      </p:sp>
      <p:sp>
        <p:nvSpPr>
          <p:cNvPr id="7" name="Shape 4"/>
          <p:cNvSpPr/>
          <p:nvPr/>
        </p:nvSpPr>
        <p:spPr>
          <a:xfrm>
            <a:off x="6080760" y="4581144"/>
            <a:ext cx="4709160" cy="1188720"/>
          </a:xfrm>
          <a:prstGeom prst="roundRect">
            <a:avLst>
              <a:gd name="adj" fmla="val 4615"/>
            </a:avLst>
          </a:prstGeom>
          <a:solidFill>
            <a:srgbClr val="F8FBF9"/>
          </a:solidFill>
          <a:ln w="12700">
            <a:solidFill>
              <a:srgbClr val="C9D8CC"/>
            </a:solidFill>
            <a:prstDash val="solid"/>
          </a:ln>
          <a:effectLst>
            <a:outerShdw blurRad="1905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245352" y="4690872"/>
            <a:ext cx="4379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Mensagem principal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245352" y="4965192"/>
            <a:ext cx="43799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sucesso competitivo nasce do </a:t>
            </a:r>
            <a:r>
              <a:rPr lang="en-US" sz="1500" dirty="0" err="1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equilíbrio</a:t>
            </a: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criar mais, conceder menos e converter o desempenho esperado em pontos reais.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Distribuição das métricas-chave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04672"/>
            <a:ext cx="1097280" cy="0"/>
          </a:xfrm>
          <a:prstGeom prst="line">
            <a:avLst/>
          </a:prstGeom>
          <a:noFill/>
          <a:ln w="28575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93268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PT" sz="1400" dirty="0">
                <a:solidFill>
                  <a:srgbClr val="5B65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 é a distribuição dos principais indicadores de desempenho?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851166"/>
            <a:ext cx="3453011" cy="4010203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• xG e xGA apresentam perfis muito semelhantes, o que sugere equilíbrio médio entre criação e concessão de </a:t>
            </a:r>
            <a:r>
              <a:rPr lang="en-US" dirty="0" err="1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ocasiões</a:t>
            </a: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.</a:t>
            </a:r>
            <a:endParaRPr lang="en-US" dirty="0">
              <a:latin typeface="+mj-lt"/>
            </a:endParaRPr>
          </a:p>
          <a:p>
            <a:pPr marL="0" indent="0">
              <a:spcAft>
                <a:spcPts val="1200"/>
              </a:spcAft>
              <a:buNone/>
            </a:pP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• Ambas as distribuições são enviesadas à direita: há muitos jogos com valores modestos e poucos casos </a:t>
            </a:r>
            <a:r>
              <a:rPr lang="en-US" dirty="0" err="1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extremos</a:t>
            </a: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.</a:t>
            </a:r>
            <a:endParaRPr lang="en-US" dirty="0">
              <a:latin typeface="+mj-lt"/>
            </a:endParaRPr>
          </a:p>
          <a:p>
            <a:pPr marL="0" indent="0">
              <a:spcAft>
                <a:spcPts val="1200"/>
              </a:spcAft>
              <a:buNone/>
            </a:pP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• Os pontos surgem </a:t>
            </a:r>
            <a:r>
              <a:rPr lang="en-US" dirty="0" err="1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como</a:t>
            </a: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uma</a:t>
            </a: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variável</a:t>
            </a: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 discreta, concentrada nos valores 0, 1 e 3, o que aproxima esta tarefa da previsão do desfecho do jogo.</a:t>
            </a:r>
            <a:endParaRPr lang="en-US" dirty="0">
              <a:latin typeface="+mj-lt"/>
            </a:endParaRPr>
          </a:p>
        </p:txBody>
      </p:sp>
      <p:pic>
        <p:nvPicPr>
          <p:cNvPr id="6" name="Image 0" descr="/mnt/data/ppt_work/assets/distribuico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3931" y="2657681"/>
            <a:ext cx="7259169" cy="22379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Equipas mais consistentes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04672"/>
            <a:ext cx="1097280" cy="0"/>
          </a:xfrm>
          <a:prstGeom prst="line">
            <a:avLst/>
          </a:prstGeom>
          <a:noFill/>
          <a:ln w="28575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93268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PT" sz="1400" dirty="0">
                <a:solidFill>
                  <a:srgbClr val="5B65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Quais foram as equipas que tiveram mais sucesso ao longo do tempo?</a:t>
            </a:r>
            <a:endParaRPr lang="en-US" sz="1400" dirty="0"/>
          </a:p>
        </p:txBody>
      </p:sp>
      <p:pic>
        <p:nvPicPr>
          <p:cNvPr id="5" name="Image 0" descr="/mnt/data/ppt_work/assets/top_club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65982"/>
            <a:ext cx="6583680" cy="42263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08392" y="1274006"/>
            <a:ext cx="3749040" cy="3549921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• Barcelona e Juventus lideram com 89,5 pontos médios por época entre 2014 e 2019.</a:t>
            </a:r>
          </a:p>
          <a:p>
            <a:pPr marL="0" indent="0">
              <a:buNone/>
            </a:pPr>
            <a:endParaRPr lang="en-US" sz="1000" dirty="0">
              <a:latin typeface="+mj-lt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• Paris Saint-Germain surge logo atrás, com 86,3 pontos </a:t>
            </a:r>
            <a:r>
              <a:rPr lang="en-US" dirty="0" err="1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médios</a:t>
            </a: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.</a:t>
            </a:r>
          </a:p>
          <a:p>
            <a:pPr marL="0" indent="0">
              <a:buNone/>
            </a:pPr>
            <a:endParaRPr lang="en-US" sz="1000" dirty="0">
              <a:latin typeface="+mj-lt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• O top inclui clubes de várias ligas, mostrando que a consistência não depende de um único </a:t>
            </a:r>
            <a:r>
              <a:rPr lang="en-US" dirty="0" err="1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campeonato</a:t>
            </a: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.</a:t>
            </a:r>
          </a:p>
          <a:p>
            <a:pPr marL="0" indent="0">
              <a:buNone/>
            </a:pPr>
            <a:endParaRPr lang="en-US" sz="1000" dirty="0">
              <a:latin typeface="+mj-lt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• A agregação por época permite comparar sucesso sustentado, e não apenas jogos isolados.</a:t>
            </a:r>
            <a:endParaRPr lang="en-US" dirty="0">
              <a:latin typeface="+mj-lt"/>
            </a:endParaRPr>
          </a:p>
        </p:txBody>
      </p:sp>
      <p:sp>
        <p:nvSpPr>
          <p:cNvPr id="7" name="Shape 4"/>
          <p:cNvSpPr/>
          <p:nvPr/>
        </p:nvSpPr>
        <p:spPr>
          <a:xfrm>
            <a:off x="7689078" y="4974846"/>
            <a:ext cx="3749040" cy="1078482"/>
          </a:xfrm>
          <a:prstGeom prst="roundRect">
            <a:avLst>
              <a:gd name="adj" fmla="val 6316"/>
            </a:avLst>
          </a:prstGeom>
          <a:solidFill>
            <a:srgbClr val="F8FBF9"/>
          </a:solidFill>
          <a:ln w="12700">
            <a:solidFill>
              <a:srgbClr val="C9D8CC"/>
            </a:solidFill>
            <a:prstDash val="solid"/>
          </a:ln>
          <a:effectLst>
            <a:outerShdw blurRad="1905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819486" y="5048596"/>
            <a:ext cx="3419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Leitura rápida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819402" y="5229508"/>
            <a:ext cx="3572142" cy="762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Quando passamos do jogo para a época, o foco deixa de ser um </a:t>
            </a:r>
            <a:r>
              <a:rPr lang="en-US" sz="1500" dirty="0" err="1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encontro</a:t>
            </a: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500" dirty="0" err="1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ao</a:t>
            </a: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500" dirty="0" err="1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acaso</a:t>
            </a: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e passa a ser a regularidade competitiva.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xG ofensivo e sucesso da equipa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04672"/>
            <a:ext cx="1097280" cy="0"/>
          </a:xfrm>
          <a:prstGeom prst="line">
            <a:avLst/>
          </a:prstGeom>
          <a:noFill/>
          <a:ln w="28575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93268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PT" sz="1400" dirty="0">
                <a:solidFill>
                  <a:srgbClr val="5B65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desempenho ofensivo (xG) traduz-se em sucesso da equipa nas diferentes ligas?</a:t>
            </a:r>
            <a:endParaRPr lang="en-US" sz="1400" dirty="0"/>
          </a:p>
        </p:txBody>
      </p:sp>
      <p:pic>
        <p:nvPicPr>
          <p:cNvPr id="5" name="Image 0" descr="/mnt/data/ppt_work/assets/xg_sucess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528450"/>
            <a:ext cx="6995160" cy="470635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966815" y="2390172"/>
            <a:ext cx="4022933" cy="3051277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• A relação é </a:t>
            </a:r>
            <a:r>
              <a:rPr lang="en-US" dirty="0" err="1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claramente</a:t>
            </a: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 positive, equipas com xG médio mais alto tendem a somar mais pontos na </a:t>
            </a:r>
            <a:r>
              <a:rPr lang="en-US" dirty="0" err="1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época</a:t>
            </a: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.</a:t>
            </a:r>
          </a:p>
          <a:p>
            <a:pPr marL="0" indent="0">
              <a:buNone/>
            </a:pPr>
            <a:endParaRPr lang="en-US" dirty="0">
              <a:latin typeface="+mj-lt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• O padrão mantém-se nas diferentes ligas, o que reforça a robustez do </a:t>
            </a:r>
            <a:r>
              <a:rPr lang="en-US" dirty="0" err="1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indicador</a:t>
            </a: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.</a:t>
            </a:r>
          </a:p>
          <a:p>
            <a:pPr marL="0" indent="0">
              <a:buNone/>
            </a:pPr>
            <a:endParaRPr lang="en-US" dirty="0">
              <a:latin typeface="+mj-lt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• Em termos práticos, criar oportunidades de maior qualidade é um dos sinais mais consistentes de sucesso.</a:t>
            </a:r>
            <a:endParaRPr lang="en-US" dirty="0">
              <a:latin typeface="+mj-lt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Previsão do resultado do jogo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04672"/>
            <a:ext cx="1097280" cy="0"/>
          </a:xfrm>
          <a:prstGeom prst="line">
            <a:avLst/>
          </a:prstGeom>
          <a:noFill/>
          <a:ln w="28575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93268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PT" sz="1400" dirty="0">
                <a:solidFill>
                  <a:srgbClr val="5B65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Até que ponto conseguimos prever os resultados dos jogos utilizando indicadores de desempenho?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79" y="1630791"/>
            <a:ext cx="4944997" cy="3111951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• Alvo: vitória ou empate = 1, derrota = 0.</a:t>
            </a:r>
          </a:p>
          <a:p>
            <a:pPr marL="0" indent="0">
              <a:buNone/>
            </a:pPr>
            <a:endParaRPr lang="en-US" dirty="0">
              <a:latin typeface="+mj-lt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• Variáveis usadas: xG, xGA, npxG, npxGA, deep, deep_allowed, npxGD, PPDA e OPPDA (definidas no slide anterior).</a:t>
            </a:r>
          </a:p>
          <a:p>
            <a:pPr marL="0" indent="0">
              <a:buNone/>
            </a:pPr>
            <a:endParaRPr lang="en-US" dirty="0">
              <a:latin typeface="+mj-lt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• Divisão: 19 664 observações para treino e 4916 para teste.</a:t>
            </a:r>
          </a:p>
          <a:p>
            <a:pPr marL="0" indent="0">
              <a:buNone/>
            </a:pPr>
            <a:endParaRPr lang="en-US" dirty="0">
              <a:latin typeface="+mj-lt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• A classe “ganhar pontos” representa 62,6% dos jogos.</a:t>
            </a:r>
            <a:endParaRPr lang="en-US" dirty="0">
              <a:latin typeface="+mj-lt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58368" y="5053490"/>
            <a:ext cx="10899307" cy="871822"/>
          </a:xfrm>
          <a:prstGeom prst="roundRect">
            <a:avLst>
              <a:gd name="adj" fmla="val 3871"/>
            </a:avLst>
          </a:prstGeom>
          <a:solidFill>
            <a:srgbClr val="F8FBF9"/>
          </a:solidFill>
          <a:ln w="12700">
            <a:solidFill>
              <a:srgbClr val="C9D8CC"/>
            </a:solidFill>
            <a:prstDash val="solid"/>
          </a:ln>
          <a:effectLst>
            <a:outerShdw blurRad="1905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1" y="5197402"/>
            <a:ext cx="1002736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Desempenho global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1" y="5437538"/>
            <a:ext cx="10671048" cy="318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Ambos os modelos atingem cerca de 75% de accuracy. A Regressão Logística tem ligeira vantagem a identificar a classe “Pontos”.</a:t>
            </a:r>
            <a:endParaRPr lang="en-US" sz="1500" dirty="0"/>
          </a:p>
        </p:txBody>
      </p:sp>
      <p:pic>
        <p:nvPicPr>
          <p:cNvPr id="9" name="Image 0" descr="/mnt/data/ppt_work/assets/confus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9795" y="1726480"/>
            <a:ext cx="5897880" cy="29205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Qualidade preditiva e variáveis-chave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04672"/>
            <a:ext cx="1097280" cy="0"/>
          </a:xfrm>
          <a:prstGeom prst="line">
            <a:avLst/>
          </a:prstGeom>
          <a:noFill/>
          <a:ln w="28575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845820"/>
            <a:ext cx="7680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PT" sz="1400" dirty="0">
                <a:solidFill>
                  <a:schemeClr val="bg1">
                    <a:lumMod val="50000"/>
                  </a:schemeClr>
                </a:solidFill>
                <a:ea typeface="Aptos" pitchFamily="34" charset="-122"/>
                <a:cs typeface="Aptos" pitchFamily="34" charset="-120"/>
              </a:rPr>
              <a:t>Em que medida os modelos conseguem distinguir os resultados dos jogos?</a:t>
            </a:r>
          </a:p>
          <a:p>
            <a:r>
              <a:rPr lang="pt-PT" sz="1400" dirty="0">
                <a:solidFill>
                  <a:schemeClr val="bg1">
                    <a:lumMod val="50000"/>
                  </a:schemeClr>
                </a:solidFill>
              </a:rPr>
              <a:t>Quais são os indicadores de desempenho mais importantes para prever o sucesso de uma equipa?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" name="Image 0" descr="/mnt/data/ppt_work/assets/r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916" y="1428432"/>
            <a:ext cx="4511868" cy="4160520"/>
          </a:xfrm>
          <a:prstGeom prst="rect">
            <a:avLst/>
          </a:prstGeom>
        </p:spPr>
      </p:pic>
      <p:pic>
        <p:nvPicPr>
          <p:cNvPr id="6" name="Image 1" descr="/mnt/data/ppt_work/assets/importanc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4358" y="1431644"/>
            <a:ext cx="5074920" cy="415409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00019" y="5747988"/>
            <a:ext cx="10241280" cy="8539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• AUC de 0,826 na Regressão Logística e 0,815 no Random Forest: ambos distinguem bem </a:t>
            </a:r>
            <a:r>
              <a:rPr lang="en-US" dirty="0" err="1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os</a:t>
            </a: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resultados</a:t>
            </a: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.</a:t>
            </a:r>
            <a:endParaRPr lang="en-US" dirty="0">
              <a:latin typeface="+mj-lt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• npxGD é a variável mais importante, seguida de xGA, xG e </a:t>
            </a:r>
            <a:r>
              <a:rPr lang="en-US" dirty="0" err="1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npxGA</a:t>
            </a: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.</a:t>
            </a:r>
            <a:endParaRPr lang="en-US" dirty="0">
              <a:latin typeface="+mj-lt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7212B"/>
                </a:solidFill>
                <a:latin typeface="+mj-lt"/>
                <a:ea typeface="Aptos" pitchFamily="34" charset="-122"/>
                <a:cs typeface="Aptos" pitchFamily="34" charset="-120"/>
              </a:rPr>
              <a:t>• O diferencial entre capacidade ofensiva e defensiva é mais informativo do que uma métrica isolada.</a:t>
            </a:r>
            <a:endParaRPr lang="en-US" dirty="0">
              <a:latin typeface="+mj-lt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Conclusões principais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804672"/>
            <a:ext cx="1097280" cy="0"/>
          </a:xfrm>
          <a:prstGeom prst="line">
            <a:avLst/>
          </a:prstGeom>
          <a:noFill/>
          <a:ln w="28575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93268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5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que fica desta análise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8680" y="1565171"/>
            <a:ext cx="420624" cy="420624"/>
          </a:xfrm>
          <a:prstGeom prst="ellipse">
            <a:avLst/>
          </a:prstGeom>
          <a:solidFill>
            <a:srgbClr val="F2FAF5"/>
          </a:solidFill>
          <a:ln w="1524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1693187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1546883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contexto entre ligas pesa pouco; a vantagem casa pesa bastante.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8680" y="2412176"/>
            <a:ext cx="420624" cy="420624"/>
          </a:xfrm>
          <a:prstGeom prst="ellipse">
            <a:avLst/>
          </a:prstGeom>
          <a:solidFill>
            <a:srgbClr val="F2FAF5"/>
          </a:solidFill>
          <a:ln w="1524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2540192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508760" y="2393888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 métricas ofensivas e defensivas explicam grande parte do sucesso competitivo.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68680" y="3347066"/>
            <a:ext cx="420624" cy="420624"/>
          </a:xfrm>
          <a:prstGeom prst="ellipse">
            <a:avLst/>
          </a:prstGeom>
          <a:solidFill>
            <a:srgbClr val="F2FAF5"/>
          </a:solidFill>
          <a:ln w="1524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3478075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08760" y="3328778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Ao nível da época, os clubes mais fortes destacam-se pela regularidade, não apenas por picos de rendimento.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68680" y="4281956"/>
            <a:ext cx="420624" cy="420624"/>
          </a:xfrm>
          <a:prstGeom prst="ellipse">
            <a:avLst/>
          </a:prstGeom>
          <a:solidFill>
            <a:srgbClr val="F2FAF5"/>
          </a:solidFill>
          <a:ln w="1524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4411519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08760" y="4263668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Os modelos conseguem prever o resultado com qualidade razoável, mas as derrotas continuam mais difíceis de antecipar.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68680" y="5251650"/>
            <a:ext cx="10104120" cy="789204"/>
          </a:xfrm>
          <a:prstGeom prst="roundRect">
            <a:avLst>
              <a:gd name="adj" fmla="val 7692"/>
            </a:avLst>
          </a:prstGeom>
          <a:solidFill>
            <a:srgbClr val="F8FBF9"/>
          </a:solidFill>
          <a:ln w="12700">
            <a:solidFill>
              <a:srgbClr val="C9D8CC"/>
            </a:solidFill>
            <a:prstDash val="solid"/>
          </a:ln>
          <a:effectLst>
            <a:outerShdw blurRad="1905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33272" y="5327194"/>
            <a:ext cx="9774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Mensagem final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33272" y="5550239"/>
            <a:ext cx="9774936" cy="480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futebol, ganhar de forma consistente depende de criar mais valor ofensivo, proteger melhor a baliza e transformar esse desempenho em pontos reais ao longo do tempo.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307</TotalTime>
  <Words>2269</Words>
  <Application>Microsoft Office PowerPoint</Application>
  <PresentationFormat>Widescreen</PresentationFormat>
  <Paragraphs>182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Desempenho no Futebol e Sucesso das Equipas</dc:title>
  <dc:subject>Análise de desempenho no futebol</dc:subject>
  <dc:creator>OpenAI</dc:creator>
  <cp:lastModifiedBy>Rodrigo Paiva Calado</cp:lastModifiedBy>
  <cp:revision>57</cp:revision>
  <dcterms:created xsi:type="dcterms:W3CDTF">2026-03-19T13:27:24Z</dcterms:created>
  <dcterms:modified xsi:type="dcterms:W3CDTF">2026-03-24T19:03:00Z</dcterms:modified>
</cp:coreProperties>
</file>