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683" autoAdjust="0"/>
  </p:normalViewPr>
  <p:slideViewPr>
    <p:cSldViewPr snapToGrid="0" snapToObjects="1">
      <p:cViewPr varScale="1">
        <p:scale>
          <a:sx n="116" d="100"/>
          <a:sy n="116" d="100"/>
        </p:scale>
        <p:origin x="6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8205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Abrir</a:t>
            </a:r>
            <a:r>
              <a:rPr lang="en-US" dirty="0"/>
              <a:t> com a </a:t>
            </a:r>
            <a:r>
              <a:rPr lang="en-US" dirty="0" err="1"/>
              <a:t>pergunta</a:t>
            </a:r>
            <a:r>
              <a:rPr lang="en-US" dirty="0"/>
              <a:t> central do </a:t>
            </a:r>
            <a:r>
              <a:rPr lang="en-US" dirty="0" err="1"/>
              <a:t>trabalho</a:t>
            </a:r>
            <a:r>
              <a:rPr lang="en-US" dirty="0"/>
              <a:t>: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métricas</a:t>
            </a:r>
            <a:r>
              <a:rPr lang="en-US" dirty="0"/>
              <a:t> </a:t>
            </a:r>
            <a:r>
              <a:rPr lang="en-US" dirty="0" err="1"/>
              <a:t>explicam</a:t>
            </a:r>
            <a:r>
              <a:rPr lang="en-US" dirty="0"/>
              <a:t> o </a:t>
            </a:r>
            <a:r>
              <a:rPr lang="en-US" dirty="0" err="1"/>
              <a:t>sucesso</a:t>
            </a:r>
            <a:r>
              <a:rPr lang="en-US" dirty="0"/>
              <a:t> das </a:t>
            </a:r>
            <a:r>
              <a:rPr lang="en-US" dirty="0" err="1"/>
              <a:t>equipas</a:t>
            </a:r>
            <a:r>
              <a:rPr lang="en-US" dirty="0"/>
              <a:t> e </a:t>
            </a:r>
            <a:r>
              <a:rPr lang="en-US" dirty="0" err="1"/>
              <a:t>até</a:t>
            </a:r>
            <a:r>
              <a:rPr lang="en-US" dirty="0"/>
              <a:t>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conseguimos</a:t>
            </a:r>
            <a:r>
              <a:rPr lang="en-US" dirty="0"/>
              <a:t> </a:t>
            </a:r>
            <a:r>
              <a:rPr lang="en-US" dirty="0" err="1"/>
              <a:t>prever</a:t>
            </a:r>
            <a:r>
              <a:rPr lang="en-US" dirty="0"/>
              <a:t> o </a:t>
            </a:r>
            <a:r>
              <a:rPr lang="en-US" dirty="0" err="1"/>
              <a:t>resultado</a:t>
            </a:r>
            <a:r>
              <a:rPr lang="en-US" dirty="0"/>
              <a:t>.
</a:t>
            </a:r>
            <a:r>
              <a:rPr lang="en-US" dirty="0" err="1"/>
              <a:t>Sublinhar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versão</a:t>
            </a:r>
            <a:r>
              <a:rPr lang="en-US" dirty="0"/>
              <a:t> </a:t>
            </a:r>
            <a:r>
              <a:rPr lang="en-US" dirty="0" err="1"/>
              <a:t>reorganiza</a:t>
            </a:r>
            <a:r>
              <a:rPr lang="en-US" dirty="0"/>
              <a:t> o </a:t>
            </a:r>
            <a:r>
              <a:rPr lang="en-US" dirty="0" err="1"/>
              <a:t>conteúdo</a:t>
            </a:r>
            <a:r>
              <a:rPr lang="en-US" dirty="0"/>
              <a:t> do notebook para um </a:t>
            </a:r>
            <a:r>
              <a:rPr lang="en-US" dirty="0" err="1"/>
              <a:t>formato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claro de </a:t>
            </a:r>
            <a:r>
              <a:rPr lang="en-US" dirty="0" err="1"/>
              <a:t>apresentação</a:t>
            </a:r>
            <a:r>
              <a:rPr lang="en-US" dirty="0"/>
              <a:t> oral, </a:t>
            </a:r>
            <a:r>
              <a:rPr lang="en-US" dirty="0" err="1"/>
              <a:t>mantendo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principais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Explicar</a:t>
            </a:r>
            <a:r>
              <a:rPr lang="en-US" dirty="0"/>
              <a:t> </a:t>
            </a:r>
            <a:r>
              <a:rPr lang="en-US" dirty="0" err="1"/>
              <a:t>rapidamente</a:t>
            </a:r>
            <a:r>
              <a:rPr lang="en-US" dirty="0"/>
              <a:t> o </a:t>
            </a:r>
            <a:r>
              <a:rPr lang="en-US" dirty="0" err="1"/>
              <a:t>alcance</a:t>
            </a:r>
            <a:r>
              <a:rPr lang="en-US" dirty="0"/>
              <a:t> do conjunto de dados.
</a:t>
            </a:r>
            <a:r>
              <a:rPr lang="en-US" dirty="0" err="1"/>
              <a:t>Depois</a:t>
            </a:r>
            <a:r>
              <a:rPr lang="en-US" dirty="0"/>
              <a:t>, </a:t>
            </a:r>
            <a:r>
              <a:rPr lang="en-US" dirty="0" err="1"/>
              <a:t>referir</a:t>
            </a:r>
            <a:r>
              <a:rPr lang="en-US" dirty="0"/>
              <a:t> a </a:t>
            </a:r>
            <a:r>
              <a:rPr lang="en-US" dirty="0" err="1"/>
              <a:t>lógica</a:t>
            </a:r>
            <a:r>
              <a:rPr lang="en-US" dirty="0"/>
              <a:t> </a:t>
            </a:r>
            <a:r>
              <a:rPr lang="en-US" dirty="0" err="1"/>
              <a:t>metodológica</a:t>
            </a:r>
            <a:r>
              <a:rPr lang="en-US" dirty="0"/>
              <a:t>: </a:t>
            </a:r>
            <a:r>
              <a:rPr lang="en-US" dirty="0" err="1"/>
              <a:t>primeiro</a:t>
            </a:r>
            <a:r>
              <a:rPr lang="en-US" dirty="0"/>
              <a:t> </a:t>
            </a:r>
            <a:r>
              <a:rPr lang="en-US" dirty="0" err="1"/>
              <a:t>entender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padrões</a:t>
            </a:r>
            <a:r>
              <a:rPr lang="en-US" dirty="0"/>
              <a:t>, </a:t>
            </a:r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agregar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equipa</a:t>
            </a:r>
            <a:r>
              <a:rPr lang="en-US" dirty="0"/>
              <a:t>/</a:t>
            </a:r>
            <a:r>
              <a:rPr lang="en-US" dirty="0" err="1"/>
              <a:t>época</a:t>
            </a:r>
            <a:r>
              <a:rPr lang="en-US" dirty="0"/>
              <a:t> e, </a:t>
            </a:r>
            <a:r>
              <a:rPr lang="en-US" dirty="0" err="1"/>
              <a:t>finalmente</a:t>
            </a:r>
            <a:r>
              <a:rPr lang="en-US" dirty="0"/>
              <a:t>, </a:t>
            </a:r>
            <a:r>
              <a:rPr lang="en-US" dirty="0" err="1"/>
              <a:t>testar</a:t>
            </a:r>
            <a:r>
              <a:rPr lang="en-US" dirty="0"/>
              <a:t> se as </a:t>
            </a:r>
            <a:r>
              <a:rPr lang="en-US" dirty="0" err="1"/>
              <a:t>métricas</a:t>
            </a:r>
            <a:r>
              <a:rPr lang="en-US" dirty="0"/>
              <a:t> </a:t>
            </a:r>
            <a:r>
              <a:rPr lang="en-US" dirty="0" err="1"/>
              <a:t>conseguem</a:t>
            </a:r>
            <a:r>
              <a:rPr lang="en-US" dirty="0"/>
              <a:t> </a:t>
            </a:r>
            <a:r>
              <a:rPr lang="en-US" dirty="0" err="1"/>
              <a:t>prever</a:t>
            </a:r>
            <a:r>
              <a:rPr lang="en-US" dirty="0"/>
              <a:t> o </a:t>
            </a:r>
            <a:r>
              <a:rPr lang="en-US" dirty="0" err="1"/>
              <a:t>resultado</a:t>
            </a:r>
            <a:r>
              <a:rPr lang="en-US" dirty="0"/>
              <a:t>.
Vale a </a:t>
            </a:r>
            <a:r>
              <a:rPr lang="en-US" dirty="0" err="1"/>
              <a:t>pena</a:t>
            </a:r>
            <a:r>
              <a:rPr lang="en-US" dirty="0"/>
              <a:t> </a:t>
            </a:r>
            <a:r>
              <a:rPr lang="en-US" dirty="0" err="1"/>
              <a:t>mencionar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foram</a:t>
            </a:r>
            <a:r>
              <a:rPr lang="en-US" dirty="0"/>
              <a:t> </a:t>
            </a:r>
            <a:r>
              <a:rPr lang="en-US" dirty="0" err="1"/>
              <a:t>retiradas</a:t>
            </a:r>
            <a:r>
              <a:rPr lang="en-US" dirty="0"/>
              <a:t> </a:t>
            </a:r>
            <a:r>
              <a:rPr lang="en-US" dirty="0" err="1"/>
              <a:t>variáveis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revelavam</a:t>
            </a:r>
            <a:r>
              <a:rPr lang="en-US" dirty="0"/>
              <a:t> </a:t>
            </a:r>
            <a:r>
              <a:rPr lang="en-US" dirty="0" err="1"/>
              <a:t>diretamente</a:t>
            </a:r>
            <a:r>
              <a:rPr lang="en-US" dirty="0"/>
              <a:t> o </a:t>
            </a:r>
            <a:r>
              <a:rPr lang="en-US" dirty="0" err="1"/>
              <a:t>resultado</a:t>
            </a:r>
            <a:r>
              <a:rPr lang="en-US" dirty="0"/>
              <a:t> para </a:t>
            </a:r>
            <a:r>
              <a:rPr lang="en-US" dirty="0" err="1"/>
              <a:t>evitar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avaliação</a:t>
            </a:r>
            <a:r>
              <a:rPr lang="en-US" dirty="0"/>
              <a:t> </a:t>
            </a:r>
            <a:r>
              <a:rPr lang="en-US" dirty="0" err="1"/>
              <a:t>artificialmente</a:t>
            </a:r>
            <a:r>
              <a:rPr lang="en-US" dirty="0"/>
              <a:t> </a:t>
            </a:r>
            <a:r>
              <a:rPr lang="en-US" dirty="0" err="1"/>
              <a:t>otimista</a:t>
            </a:r>
            <a:r>
              <a:rPr lang="en-US" dirty="0"/>
              <a:t>.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Neste slide apresento o </a:t>
            </a:r>
            <a:r>
              <a:rPr lang="pt-PT" dirty="0" err="1"/>
              <a:t>dataset</a:t>
            </a:r>
            <a:r>
              <a:rPr lang="pt-PT" dirty="0"/>
              <a:t> que serviu de base ao trabalho.</a:t>
            </a:r>
            <a:br>
              <a:rPr lang="pt-PT" dirty="0"/>
            </a:br>
            <a:r>
              <a:rPr lang="pt-PT" dirty="0"/>
              <a:t>O conjunto de dados inclui várias ligas, épocas e métricas relevantes do jogo, permitindo analisar o desempenho das equipas de forma mais detalhada.</a:t>
            </a:r>
            <a:br>
              <a:rPr lang="pt-PT" dirty="0"/>
            </a:br>
            <a:r>
              <a:rPr lang="pt-PT" dirty="0"/>
              <a:t>A sua principal mais-valia é combinar variáveis ofensivas, defensivas e táticas, o que ajuda a perceber melhor os fatores associados ao sucesso competitivo.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Nesta </a:t>
            </a:r>
            <a:r>
              <a:rPr lang="en-US" dirty="0" err="1"/>
              <a:t>parte</a:t>
            </a:r>
            <a:r>
              <a:rPr lang="en-US" dirty="0"/>
              <a:t>, </a:t>
            </a:r>
            <a:r>
              <a:rPr lang="en-US" dirty="0" err="1"/>
              <a:t>reforçar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liga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só</a:t>
            </a:r>
            <a:r>
              <a:rPr lang="en-US" dirty="0"/>
              <a:t>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explica</a:t>
            </a:r>
            <a:r>
              <a:rPr lang="en-US" dirty="0"/>
              <a:t> </a:t>
            </a:r>
            <a:r>
              <a:rPr lang="en-US" dirty="0" err="1"/>
              <a:t>grandes</a:t>
            </a:r>
            <a:r>
              <a:rPr lang="en-US" dirty="0"/>
              <a:t> </a:t>
            </a:r>
            <a:r>
              <a:rPr lang="en-US" dirty="0" err="1"/>
              <a:t>diferenças</a:t>
            </a:r>
            <a:r>
              <a:rPr lang="en-US" dirty="0"/>
              <a:t> no </a:t>
            </a:r>
            <a:r>
              <a:rPr lang="en-US" dirty="0" err="1"/>
              <a:t>rendimento</a:t>
            </a:r>
            <a:r>
              <a:rPr lang="en-US" dirty="0"/>
              <a:t> </a:t>
            </a:r>
            <a:r>
              <a:rPr lang="en-US" dirty="0" err="1"/>
              <a:t>médio</a:t>
            </a:r>
            <a:r>
              <a:rPr lang="en-US" dirty="0"/>
              <a:t>.
O </a:t>
            </a:r>
            <a:r>
              <a:rPr lang="en-US" dirty="0" err="1"/>
              <a:t>ponto</a:t>
            </a:r>
            <a:r>
              <a:rPr lang="en-US" dirty="0"/>
              <a:t> </a:t>
            </a:r>
            <a:r>
              <a:rPr lang="en-US" dirty="0" err="1"/>
              <a:t>realmente</a:t>
            </a:r>
            <a:r>
              <a:rPr lang="en-US" dirty="0"/>
              <a:t> forte é o factor casa, </a:t>
            </a:r>
            <a:r>
              <a:rPr lang="en-US" dirty="0" err="1"/>
              <a:t>que</a:t>
            </a:r>
            <a:r>
              <a:rPr lang="en-US" dirty="0"/>
              <a:t> surge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vantagem</a:t>
            </a:r>
            <a:r>
              <a:rPr lang="en-US" dirty="0"/>
              <a:t> </a:t>
            </a:r>
            <a:r>
              <a:rPr lang="en-US" dirty="0" err="1"/>
              <a:t>consistente</a:t>
            </a:r>
            <a:r>
              <a:rPr lang="en-US" dirty="0"/>
              <a:t>.
A barra do </a:t>
            </a:r>
            <a:r>
              <a:rPr lang="en-US" dirty="0" err="1"/>
              <a:t>resultado</a:t>
            </a:r>
            <a:r>
              <a:rPr lang="en-US" dirty="0"/>
              <a:t> serve </a:t>
            </a:r>
            <a:r>
              <a:rPr lang="en-US" dirty="0" err="1"/>
              <a:t>também</a:t>
            </a:r>
            <a:r>
              <a:rPr lang="en-US" dirty="0"/>
              <a:t> para </a:t>
            </a:r>
            <a:r>
              <a:rPr lang="en-US" dirty="0" err="1"/>
              <a:t>lembrar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alvo</a:t>
            </a:r>
            <a:r>
              <a:rPr lang="en-US" dirty="0"/>
              <a:t> “</a:t>
            </a:r>
            <a:r>
              <a:rPr lang="en-US" dirty="0" err="1"/>
              <a:t>pontos</a:t>
            </a:r>
            <a:r>
              <a:rPr lang="en-US" dirty="0"/>
              <a:t>” </a:t>
            </a:r>
            <a:r>
              <a:rPr lang="en-US" dirty="0" err="1"/>
              <a:t>deriva</a:t>
            </a:r>
            <a:r>
              <a:rPr lang="en-US" dirty="0"/>
              <a:t> do </a:t>
            </a:r>
            <a:r>
              <a:rPr lang="en-US" dirty="0" err="1"/>
              <a:t>próprio</a:t>
            </a:r>
            <a:r>
              <a:rPr lang="en-US" dirty="0"/>
              <a:t> </a:t>
            </a:r>
            <a:r>
              <a:rPr lang="en-US" dirty="0" err="1"/>
              <a:t>desfecho</a:t>
            </a:r>
            <a:r>
              <a:rPr lang="en-US" dirty="0"/>
              <a:t> do </a:t>
            </a:r>
            <a:r>
              <a:rPr lang="en-US" dirty="0" err="1"/>
              <a:t>jogo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Usar </a:t>
            </a:r>
            <a:r>
              <a:rPr lang="en-US" dirty="0" err="1"/>
              <a:t>este</a:t>
            </a:r>
            <a:r>
              <a:rPr lang="en-US" dirty="0"/>
              <a:t> slide para </a:t>
            </a:r>
            <a:r>
              <a:rPr lang="en-US" dirty="0" err="1"/>
              <a:t>traduzir</a:t>
            </a:r>
            <a:r>
              <a:rPr lang="en-US" dirty="0"/>
              <a:t> a </a:t>
            </a:r>
            <a:r>
              <a:rPr lang="en-US" dirty="0" err="1"/>
              <a:t>análise</a:t>
            </a:r>
            <a:r>
              <a:rPr lang="en-US" dirty="0"/>
              <a:t> </a:t>
            </a:r>
            <a:r>
              <a:rPr lang="en-US" dirty="0" err="1"/>
              <a:t>estatística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linguagem</a:t>
            </a:r>
            <a:r>
              <a:rPr lang="en-US" dirty="0"/>
              <a:t> simples.
O </a:t>
            </a:r>
            <a:r>
              <a:rPr lang="en-US" dirty="0" err="1"/>
              <a:t>essencial</a:t>
            </a:r>
            <a:r>
              <a:rPr lang="en-US" dirty="0"/>
              <a:t> é </a:t>
            </a:r>
            <a:r>
              <a:rPr lang="en-US" dirty="0" err="1"/>
              <a:t>mostrar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as </a:t>
            </a:r>
            <a:r>
              <a:rPr lang="en-US" dirty="0" err="1"/>
              <a:t>métricas</a:t>
            </a:r>
            <a:r>
              <a:rPr lang="en-US" dirty="0"/>
              <a:t> </a:t>
            </a:r>
            <a:r>
              <a:rPr lang="en-US" dirty="0" err="1"/>
              <a:t>ofensivas</a:t>
            </a:r>
            <a:r>
              <a:rPr lang="en-US" dirty="0"/>
              <a:t> e </a:t>
            </a:r>
            <a:r>
              <a:rPr lang="en-US" dirty="0" err="1"/>
              <a:t>defensivas</a:t>
            </a:r>
            <a:r>
              <a:rPr lang="en-US" dirty="0"/>
              <a:t> </a:t>
            </a:r>
            <a:r>
              <a:rPr lang="en-US" dirty="0" err="1"/>
              <a:t>acompanham</a:t>
            </a:r>
            <a:r>
              <a:rPr lang="en-US" dirty="0"/>
              <a:t> </a:t>
            </a:r>
            <a:r>
              <a:rPr lang="en-US" dirty="0" err="1"/>
              <a:t>muito</a:t>
            </a:r>
            <a:r>
              <a:rPr lang="en-US" dirty="0"/>
              <a:t> de </a:t>
            </a:r>
            <a:r>
              <a:rPr lang="en-US" dirty="0" err="1"/>
              <a:t>perto</a:t>
            </a:r>
            <a:r>
              <a:rPr lang="en-US" dirty="0"/>
              <a:t> o </a:t>
            </a:r>
            <a:r>
              <a:rPr lang="en-US" dirty="0" err="1"/>
              <a:t>resultado</a:t>
            </a:r>
            <a:r>
              <a:rPr lang="en-US" dirty="0"/>
              <a:t> final.
Se for </a:t>
            </a:r>
            <a:r>
              <a:rPr lang="en-US" dirty="0" err="1"/>
              <a:t>preciso</a:t>
            </a:r>
            <a:r>
              <a:rPr lang="en-US" dirty="0"/>
              <a:t> </a:t>
            </a:r>
            <a:r>
              <a:rPr lang="en-US" dirty="0" err="1"/>
              <a:t>resumir</a:t>
            </a:r>
            <a:r>
              <a:rPr lang="en-US" dirty="0"/>
              <a:t> </a:t>
            </a:r>
            <a:r>
              <a:rPr lang="en-US" dirty="0" err="1"/>
              <a:t>numa</a:t>
            </a:r>
            <a:r>
              <a:rPr lang="en-US" dirty="0"/>
              <a:t> </a:t>
            </a:r>
            <a:r>
              <a:rPr lang="en-US" dirty="0" err="1"/>
              <a:t>frase</a:t>
            </a:r>
            <a:r>
              <a:rPr lang="en-US" dirty="0"/>
              <a:t>: </a:t>
            </a:r>
            <a:r>
              <a:rPr lang="en-US" dirty="0" err="1"/>
              <a:t>marcar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e </a:t>
            </a:r>
            <a:r>
              <a:rPr lang="en-US" dirty="0" err="1"/>
              <a:t>sofrer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continua a ser a </a:t>
            </a:r>
            <a:r>
              <a:rPr lang="en-US" dirty="0" err="1"/>
              <a:t>regra</a:t>
            </a:r>
            <a:r>
              <a:rPr lang="en-US" dirty="0"/>
              <a:t>, mas as </a:t>
            </a:r>
            <a:r>
              <a:rPr lang="en-US" dirty="0" err="1"/>
              <a:t>métricas</a:t>
            </a:r>
            <a:r>
              <a:rPr lang="en-US" dirty="0"/>
              <a:t> </a:t>
            </a:r>
            <a:r>
              <a:rPr lang="en-US" dirty="0" err="1"/>
              <a:t>avançadas</a:t>
            </a:r>
            <a:r>
              <a:rPr lang="en-US" dirty="0"/>
              <a:t> </a:t>
            </a:r>
            <a:r>
              <a:rPr lang="en-US" dirty="0" err="1"/>
              <a:t>ajudam</a:t>
            </a:r>
            <a:r>
              <a:rPr lang="en-US" dirty="0"/>
              <a:t> a </a:t>
            </a:r>
            <a:r>
              <a:rPr lang="en-US" dirty="0" err="1"/>
              <a:t>explicar</a:t>
            </a:r>
            <a:r>
              <a:rPr lang="en-US" dirty="0"/>
              <a:t> </a:t>
            </a:r>
            <a:r>
              <a:rPr lang="en-US" dirty="0" err="1"/>
              <a:t>melhor</a:t>
            </a:r>
            <a:r>
              <a:rPr lang="en-US" dirty="0"/>
              <a:t> esse </a:t>
            </a:r>
            <a:r>
              <a:rPr lang="en-US" dirty="0" err="1"/>
              <a:t>comportamento</a:t>
            </a:r>
            <a:r>
              <a:rPr lang="en-US" dirty="0"/>
              <a:t>.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</a:t>
            </a:r>
            <a:r>
              <a:rPr lang="en-US" dirty="0" err="1"/>
              <a:t>leitura</a:t>
            </a:r>
            <a:r>
              <a:rPr lang="en-US" dirty="0"/>
              <a:t> da </a:t>
            </a:r>
            <a:r>
              <a:rPr lang="en-US" dirty="0" err="1"/>
              <a:t>matriz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ser </a:t>
            </a:r>
            <a:r>
              <a:rPr lang="en-US" dirty="0" err="1"/>
              <a:t>rápida</a:t>
            </a:r>
            <a:r>
              <a:rPr lang="en-US" dirty="0"/>
              <a:t>: </a:t>
            </a:r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apenas</a:t>
            </a:r>
            <a:r>
              <a:rPr lang="en-US" dirty="0"/>
              <a:t> as </a:t>
            </a:r>
            <a:r>
              <a:rPr lang="en-US" dirty="0" err="1"/>
              <a:t>relações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fortes.
</a:t>
            </a:r>
            <a:r>
              <a:rPr lang="en-US" dirty="0" err="1"/>
              <a:t>Convém</a:t>
            </a:r>
            <a:r>
              <a:rPr lang="en-US" dirty="0"/>
              <a:t> </a:t>
            </a:r>
            <a:r>
              <a:rPr lang="en-US" dirty="0" err="1"/>
              <a:t>esclarecer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xPts_diff</a:t>
            </a:r>
            <a:r>
              <a:rPr lang="en-US" dirty="0"/>
              <a:t> é </a:t>
            </a:r>
            <a:r>
              <a:rPr lang="en-US" dirty="0" err="1"/>
              <a:t>relevante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traduz</a:t>
            </a:r>
            <a:r>
              <a:rPr lang="en-US" dirty="0"/>
              <a:t> a </a:t>
            </a:r>
            <a:r>
              <a:rPr lang="en-US" dirty="0" err="1"/>
              <a:t>distância</a:t>
            </a:r>
            <a:r>
              <a:rPr lang="en-US" dirty="0"/>
              <a:t> entre o </a:t>
            </a:r>
            <a:r>
              <a:rPr lang="en-US" dirty="0" err="1"/>
              <a:t>esperado</a:t>
            </a:r>
            <a:r>
              <a:rPr lang="en-US" dirty="0"/>
              <a:t> e 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realmente</a:t>
            </a:r>
            <a:r>
              <a:rPr lang="en-US" dirty="0"/>
              <a:t> </a:t>
            </a:r>
            <a:r>
              <a:rPr lang="en-US" dirty="0" err="1"/>
              <a:t>aconteceu</a:t>
            </a:r>
            <a:r>
              <a:rPr lang="en-US" dirty="0"/>
              <a:t> no </a:t>
            </a:r>
            <a:r>
              <a:rPr lang="en-US" dirty="0" err="1"/>
              <a:t>jogo</a:t>
            </a:r>
            <a:r>
              <a:rPr lang="en-US" dirty="0"/>
              <a:t>.
Se o tempo for </a:t>
            </a:r>
            <a:r>
              <a:rPr lang="en-US" dirty="0" err="1"/>
              <a:t>curto</a:t>
            </a:r>
            <a:r>
              <a:rPr lang="en-US" dirty="0"/>
              <a:t>, </a:t>
            </a:r>
            <a:r>
              <a:rPr lang="en-US" dirty="0" err="1"/>
              <a:t>destacar</a:t>
            </a:r>
            <a:r>
              <a:rPr lang="en-US" dirty="0"/>
              <a:t> </a:t>
            </a:r>
            <a:r>
              <a:rPr lang="en-US" dirty="0" err="1"/>
              <a:t>só</a:t>
            </a:r>
            <a:r>
              <a:rPr lang="en-US" dirty="0"/>
              <a:t> </a:t>
            </a:r>
            <a:r>
              <a:rPr lang="en-US" dirty="0" err="1"/>
              <a:t>três</a:t>
            </a:r>
            <a:r>
              <a:rPr lang="en-US" dirty="0"/>
              <a:t> </a:t>
            </a:r>
            <a:r>
              <a:rPr lang="en-US" dirty="0" err="1"/>
              <a:t>sinais</a:t>
            </a:r>
            <a:r>
              <a:rPr lang="en-US" dirty="0"/>
              <a:t>: </a:t>
            </a:r>
            <a:r>
              <a:rPr lang="en-US" dirty="0" err="1"/>
              <a:t>golos</a:t>
            </a:r>
            <a:r>
              <a:rPr lang="en-US" dirty="0"/>
              <a:t> </a:t>
            </a:r>
            <a:r>
              <a:rPr lang="en-US" dirty="0" err="1"/>
              <a:t>marcados</a:t>
            </a:r>
            <a:r>
              <a:rPr lang="en-US" dirty="0"/>
              <a:t>, </a:t>
            </a:r>
            <a:r>
              <a:rPr lang="en-US" dirty="0" err="1"/>
              <a:t>golos</a:t>
            </a:r>
            <a:r>
              <a:rPr lang="en-US" dirty="0"/>
              <a:t> </a:t>
            </a:r>
            <a:r>
              <a:rPr lang="en-US" dirty="0" err="1"/>
              <a:t>sofridos</a:t>
            </a:r>
            <a:r>
              <a:rPr lang="en-US" dirty="0"/>
              <a:t> e </a:t>
            </a:r>
            <a:r>
              <a:rPr lang="en-US" dirty="0" err="1"/>
              <a:t>xPts</a:t>
            </a:r>
            <a:r>
              <a:rPr lang="en-US" dirty="0"/>
              <a:t>.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Este slide </a:t>
            </a:r>
            <a:r>
              <a:rPr lang="en-US" dirty="0" err="1"/>
              <a:t>ajuda</a:t>
            </a:r>
            <a:r>
              <a:rPr lang="en-US" dirty="0"/>
              <a:t> a </a:t>
            </a:r>
            <a:r>
              <a:rPr lang="en-US" dirty="0" err="1"/>
              <a:t>explicar</a:t>
            </a:r>
            <a:r>
              <a:rPr lang="en-US" dirty="0"/>
              <a:t> a “forma” dos dados antes de </a:t>
            </a:r>
            <a:r>
              <a:rPr lang="en-US" dirty="0" err="1"/>
              <a:t>passar</a:t>
            </a:r>
            <a:r>
              <a:rPr lang="en-US" dirty="0"/>
              <a:t> para a </a:t>
            </a:r>
            <a:r>
              <a:rPr lang="en-US" dirty="0" err="1"/>
              <a:t>comparação</a:t>
            </a:r>
            <a:r>
              <a:rPr lang="en-US" dirty="0"/>
              <a:t> entre </a:t>
            </a:r>
            <a:r>
              <a:rPr lang="en-US" dirty="0" err="1"/>
              <a:t>equipas</a:t>
            </a:r>
            <a:r>
              <a:rPr lang="en-US" dirty="0"/>
              <a:t> e para a </a:t>
            </a:r>
            <a:r>
              <a:rPr lang="en-US" dirty="0" err="1"/>
              <a:t>modelação</a:t>
            </a:r>
            <a:r>
              <a:rPr lang="en-US" dirty="0"/>
              <a:t>.
A </a:t>
            </a:r>
            <a:r>
              <a:rPr lang="en-US" dirty="0" err="1"/>
              <a:t>ideia</a:t>
            </a:r>
            <a:r>
              <a:rPr lang="en-US" dirty="0"/>
              <a:t> principal é </a:t>
            </a:r>
            <a:r>
              <a:rPr lang="en-US" dirty="0" err="1"/>
              <a:t>que</a:t>
            </a:r>
            <a:r>
              <a:rPr lang="en-US" dirty="0"/>
              <a:t> as </a:t>
            </a:r>
            <a:r>
              <a:rPr lang="en-US" dirty="0" err="1"/>
              <a:t>métricas</a:t>
            </a:r>
            <a:r>
              <a:rPr lang="en-US" dirty="0"/>
              <a:t> </a:t>
            </a:r>
            <a:r>
              <a:rPr lang="en-US" dirty="0" err="1"/>
              <a:t>avançadas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estão</a:t>
            </a:r>
            <a:r>
              <a:rPr lang="en-US" dirty="0"/>
              <a:t> </a:t>
            </a:r>
            <a:r>
              <a:rPr lang="en-US" dirty="0" err="1"/>
              <a:t>distribuídas</a:t>
            </a:r>
            <a:r>
              <a:rPr lang="en-US" dirty="0"/>
              <a:t> de forma </a:t>
            </a:r>
            <a:r>
              <a:rPr lang="en-US" dirty="0" err="1"/>
              <a:t>uniforme</a:t>
            </a:r>
            <a:r>
              <a:rPr lang="en-US" dirty="0"/>
              <a:t>; a </a:t>
            </a:r>
            <a:r>
              <a:rPr lang="en-US" dirty="0" err="1"/>
              <a:t>maioria</a:t>
            </a:r>
            <a:r>
              <a:rPr lang="en-US" dirty="0"/>
              <a:t> dos </a:t>
            </a:r>
            <a:r>
              <a:rPr lang="en-US" dirty="0" err="1"/>
              <a:t>jogos</a:t>
            </a:r>
            <a:r>
              <a:rPr lang="en-US" dirty="0"/>
              <a:t> </a:t>
            </a:r>
            <a:r>
              <a:rPr lang="en-US" dirty="0" err="1"/>
              <a:t>fica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moderados</a:t>
            </a:r>
            <a:r>
              <a:rPr lang="en-US" dirty="0"/>
              <a:t>.
</a:t>
            </a:r>
            <a:r>
              <a:rPr lang="en-US" dirty="0" err="1"/>
              <a:t>Também</a:t>
            </a:r>
            <a:r>
              <a:rPr lang="en-US" dirty="0"/>
              <a:t> vale a </a:t>
            </a:r>
            <a:r>
              <a:rPr lang="en-US" dirty="0" err="1"/>
              <a:t>pena</a:t>
            </a:r>
            <a:r>
              <a:rPr lang="en-US" dirty="0"/>
              <a:t> </a:t>
            </a:r>
            <a:r>
              <a:rPr lang="en-US" dirty="0" err="1"/>
              <a:t>notar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variável</a:t>
            </a:r>
            <a:r>
              <a:rPr lang="en-US" dirty="0"/>
              <a:t> </a:t>
            </a:r>
            <a:r>
              <a:rPr lang="en-US" dirty="0" err="1"/>
              <a:t>pontos</a:t>
            </a:r>
            <a:r>
              <a:rPr lang="en-US" dirty="0"/>
              <a:t> é </a:t>
            </a:r>
            <a:r>
              <a:rPr lang="en-US" dirty="0" err="1"/>
              <a:t>discreta</a:t>
            </a:r>
            <a:r>
              <a:rPr lang="en-US" dirty="0"/>
              <a:t>, 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condiciona</a:t>
            </a:r>
            <a:r>
              <a:rPr lang="en-US" dirty="0"/>
              <a:t> o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modelo</a:t>
            </a:r>
            <a:r>
              <a:rPr lang="en-US" dirty="0"/>
              <a:t> a </a:t>
            </a:r>
            <a:r>
              <a:rPr lang="en-US" dirty="0" err="1"/>
              <a:t>aplicar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Aqui </a:t>
            </a:r>
            <a:r>
              <a:rPr lang="en-US" dirty="0" err="1"/>
              <a:t>convém</a:t>
            </a:r>
            <a:r>
              <a:rPr lang="en-US" dirty="0"/>
              <a:t> </a:t>
            </a:r>
            <a:r>
              <a:rPr lang="en-US" dirty="0" err="1"/>
              <a:t>explicar</a:t>
            </a:r>
            <a:r>
              <a:rPr lang="en-US" dirty="0"/>
              <a:t> a </a:t>
            </a:r>
            <a:r>
              <a:rPr lang="en-US" dirty="0" err="1"/>
              <a:t>mudança</a:t>
            </a:r>
            <a:r>
              <a:rPr lang="en-US" dirty="0"/>
              <a:t> de </a:t>
            </a:r>
            <a:r>
              <a:rPr lang="en-US" dirty="0" err="1"/>
              <a:t>unidade</a:t>
            </a:r>
            <a:r>
              <a:rPr lang="en-US" dirty="0"/>
              <a:t> de </a:t>
            </a:r>
            <a:r>
              <a:rPr lang="en-US" dirty="0" err="1"/>
              <a:t>análise</a:t>
            </a:r>
            <a:r>
              <a:rPr lang="en-US" dirty="0"/>
              <a:t>: do </a:t>
            </a:r>
            <a:r>
              <a:rPr lang="en-US" dirty="0" err="1"/>
              <a:t>jogo</a:t>
            </a:r>
            <a:r>
              <a:rPr lang="en-US" dirty="0"/>
              <a:t> para a </a:t>
            </a:r>
            <a:r>
              <a:rPr lang="en-US" dirty="0" err="1"/>
              <a:t>época</a:t>
            </a:r>
            <a:r>
              <a:rPr lang="en-US" dirty="0"/>
              <a:t>.
Esta </a:t>
            </a:r>
            <a:r>
              <a:rPr lang="en-US" dirty="0" err="1"/>
              <a:t>transição</a:t>
            </a:r>
            <a:r>
              <a:rPr lang="en-US" dirty="0"/>
              <a:t> é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a </a:t>
            </a:r>
            <a:r>
              <a:rPr lang="en-US" dirty="0" err="1"/>
              <a:t>pergunta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“</a:t>
            </a:r>
            <a:r>
              <a:rPr lang="en-US" dirty="0" err="1"/>
              <a:t>sucesso</a:t>
            </a:r>
            <a:r>
              <a:rPr lang="en-US" dirty="0"/>
              <a:t>” </a:t>
            </a:r>
            <a:r>
              <a:rPr lang="en-US" dirty="0" err="1"/>
              <a:t>faz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sentido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</a:t>
            </a:r>
            <a:r>
              <a:rPr lang="en-US" dirty="0" err="1"/>
              <a:t>olhamos</a:t>
            </a:r>
            <a:r>
              <a:rPr lang="en-US" dirty="0"/>
              <a:t> para a </a:t>
            </a:r>
            <a:r>
              <a:rPr lang="en-US" dirty="0" err="1"/>
              <a:t>consistência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longo</a:t>
            </a:r>
            <a:r>
              <a:rPr lang="en-US" dirty="0"/>
              <a:t> do tempo.
Se </a:t>
            </a:r>
            <a:r>
              <a:rPr lang="en-US" dirty="0" err="1"/>
              <a:t>necessário</a:t>
            </a:r>
            <a:r>
              <a:rPr lang="en-US" dirty="0"/>
              <a:t>, </a:t>
            </a:r>
            <a:r>
              <a:rPr lang="en-US" dirty="0" err="1"/>
              <a:t>destacar</a:t>
            </a:r>
            <a:r>
              <a:rPr lang="en-US" dirty="0"/>
              <a:t> </a:t>
            </a:r>
            <a:r>
              <a:rPr lang="en-US" dirty="0" err="1"/>
              <a:t>apenas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três</a:t>
            </a:r>
            <a:r>
              <a:rPr lang="en-US" dirty="0"/>
              <a:t> </a:t>
            </a:r>
            <a:r>
              <a:rPr lang="en-US" dirty="0" err="1"/>
              <a:t>primeiros</a:t>
            </a:r>
            <a:r>
              <a:rPr lang="en-US" dirty="0"/>
              <a:t> </a:t>
            </a:r>
            <a:r>
              <a:rPr lang="en-US" dirty="0" err="1"/>
              <a:t>classificados</a:t>
            </a:r>
            <a:r>
              <a:rPr lang="en-US" dirty="0"/>
              <a:t> e a </a:t>
            </a:r>
            <a:r>
              <a:rPr lang="en-US" dirty="0" err="1"/>
              <a:t>diversidade</a:t>
            </a:r>
            <a:r>
              <a:rPr lang="en-US" dirty="0"/>
              <a:t> de </a:t>
            </a:r>
            <a:r>
              <a:rPr lang="en-US" dirty="0" err="1"/>
              <a:t>ligas</a:t>
            </a:r>
            <a:r>
              <a:rPr lang="en-US" dirty="0"/>
              <a:t> </a:t>
            </a:r>
            <a:r>
              <a:rPr lang="en-US" dirty="0" err="1"/>
              <a:t>representadas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um dos slides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intuitivos</a:t>
            </a:r>
            <a:r>
              <a:rPr lang="en-US" dirty="0"/>
              <a:t> para a </a:t>
            </a:r>
            <a:r>
              <a:rPr lang="en-US" dirty="0" err="1"/>
              <a:t>audiência</a:t>
            </a:r>
            <a:r>
              <a:rPr lang="en-US" dirty="0"/>
              <a:t>.
Vale a </a:t>
            </a:r>
            <a:r>
              <a:rPr lang="en-US" dirty="0" err="1"/>
              <a:t>pena</a:t>
            </a:r>
            <a:r>
              <a:rPr lang="en-US" dirty="0"/>
              <a:t> </a:t>
            </a:r>
            <a:r>
              <a:rPr lang="en-US" dirty="0" err="1"/>
              <a:t>apontar</a:t>
            </a:r>
            <a:r>
              <a:rPr lang="en-US" dirty="0"/>
              <a:t> a </a:t>
            </a:r>
            <a:r>
              <a:rPr lang="en-US" dirty="0" err="1"/>
              <a:t>inclinação</a:t>
            </a:r>
            <a:r>
              <a:rPr lang="en-US" dirty="0"/>
              <a:t> </a:t>
            </a:r>
            <a:r>
              <a:rPr lang="en-US" dirty="0" err="1"/>
              <a:t>positiva</a:t>
            </a:r>
            <a:r>
              <a:rPr lang="en-US" dirty="0"/>
              <a:t> das </a:t>
            </a:r>
            <a:r>
              <a:rPr lang="en-US" dirty="0" err="1"/>
              <a:t>linhas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liga</a:t>
            </a:r>
            <a:r>
              <a:rPr lang="en-US" dirty="0"/>
              <a:t> e </a:t>
            </a:r>
            <a:r>
              <a:rPr lang="en-US" dirty="0" err="1"/>
              <a:t>explicar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tendência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</a:t>
            </a:r>
            <a:r>
              <a:rPr lang="en-US" dirty="0" err="1"/>
              <a:t>apenas</a:t>
            </a:r>
            <a:r>
              <a:rPr lang="en-US" dirty="0"/>
              <a:t> de um </a:t>
            </a:r>
            <a:r>
              <a:rPr lang="en-US" dirty="0" err="1"/>
              <a:t>campeonato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pt-PT" dirty="0"/>
              <a:t>Isto sugere que a capacidade de criar mais e melhores oportunidades de golo está associada a melhores resultados desportivos. Naturalmente, o ataque não explica tudo por si só, porque há outros fatores importantes, como a consistência defensiva, a eficácia, o contexto competitivo e até a regularidade ao longo da época. No entanto, este gráfico mostra claramente que o rendimento ofensivo é um dos sinais mais fortes de sucesso.</a:t>
            </a:r>
            <a:r>
              <a:rPr lang="en-US" dirty="0"/>
              <a:t>
A </a:t>
            </a:r>
            <a:r>
              <a:rPr lang="en-US" dirty="0" err="1"/>
              <a:t>mensagem</a:t>
            </a:r>
            <a:r>
              <a:rPr lang="en-US" dirty="0"/>
              <a:t> final </a:t>
            </a:r>
            <a:r>
              <a:rPr lang="en-US" dirty="0" err="1"/>
              <a:t>deve</a:t>
            </a:r>
            <a:r>
              <a:rPr lang="en-US" dirty="0"/>
              <a:t> ser simples: </a:t>
            </a:r>
            <a:r>
              <a:rPr lang="en-US" dirty="0" err="1"/>
              <a:t>equipas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produzem</a:t>
            </a:r>
            <a:r>
              <a:rPr lang="en-US" dirty="0"/>
              <a:t> </a:t>
            </a:r>
            <a:r>
              <a:rPr lang="en-US" dirty="0" err="1"/>
              <a:t>melhor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ataque</a:t>
            </a:r>
            <a:r>
              <a:rPr lang="en-US" dirty="0"/>
              <a:t> </a:t>
            </a:r>
            <a:r>
              <a:rPr lang="en-US" dirty="0" err="1"/>
              <a:t>acumulam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pontos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longo</a:t>
            </a:r>
            <a:r>
              <a:rPr lang="en-US" dirty="0"/>
              <a:t> da </a:t>
            </a:r>
            <a:r>
              <a:rPr lang="en-US" dirty="0" err="1"/>
              <a:t>época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Variaveis</a:t>
            </a:r>
            <a:r>
              <a:rPr lang="en-US" dirty="0"/>
              <a:t>: </a:t>
            </a:r>
          </a:p>
          <a:p>
            <a:r>
              <a:rPr lang="pt-PT" dirty="0" err="1"/>
              <a:t>xG</a:t>
            </a:r>
            <a:r>
              <a:rPr lang="pt-PT" dirty="0"/>
              <a:t> - golos esperados</a:t>
            </a:r>
          </a:p>
          <a:p>
            <a:r>
              <a:rPr lang="pt-PT" dirty="0" err="1"/>
              <a:t>xGA</a:t>
            </a:r>
            <a:r>
              <a:rPr lang="pt-PT" dirty="0"/>
              <a:t> - golos esperados sofridos</a:t>
            </a:r>
          </a:p>
          <a:p>
            <a:r>
              <a:rPr lang="pt-PT" dirty="0" err="1"/>
              <a:t>npxG</a:t>
            </a:r>
            <a:r>
              <a:rPr lang="pt-PT" dirty="0"/>
              <a:t> - golos esperados sem penalty</a:t>
            </a:r>
          </a:p>
          <a:p>
            <a:r>
              <a:rPr lang="pt-PT" dirty="0" err="1"/>
              <a:t>npxGA</a:t>
            </a:r>
            <a:r>
              <a:rPr lang="pt-PT" dirty="0"/>
              <a:t> - golos esperados sofridos sem penalty</a:t>
            </a:r>
          </a:p>
          <a:p>
            <a:endParaRPr lang="en-US" dirty="0"/>
          </a:p>
          <a:p>
            <a:r>
              <a:rPr lang="en-US" dirty="0"/>
              <a:t>Primeiro, </a:t>
            </a:r>
            <a:r>
              <a:rPr lang="en-US" dirty="0" err="1"/>
              <a:t>explicar</a:t>
            </a:r>
            <a:r>
              <a:rPr lang="en-US" dirty="0"/>
              <a:t> o </a:t>
            </a:r>
            <a:r>
              <a:rPr lang="en-US" dirty="0" err="1"/>
              <a:t>objetivo</a:t>
            </a:r>
            <a:r>
              <a:rPr lang="en-US" dirty="0"/>
              <a:t> da </a:t>
            </a:r>
            <a:r>
              <a:rPr lang="en-US" dirty="0" err="1"/>
              <a:t>classificação</a:t>
            </a:r>
            <a:r>
              <a:rPr lang="en-US" dirty="0"/>
              <a:t> </a:t>
            </a:r>
            <a:r>
              <a:rPr lang="en-US" dirty="0" err="1"/>
              <a:t>binária</a:t>
            </a:r>
            <a:r>
              <a:rPr lang="en-US" dirty="0"/>
              <a:t> de forma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direta</a:t>
            </a:r>
            <a:r>
              <a:rPr lang="en-US" dirty="0"/>
              <a:t>.
</a:t>
            </a:r>
            <a:r>
              <a:rPr lang="en-US" dirty="0" err="1"/>
              <a:t>Depois</a:t>
            </a:r>
            <a:r>
              <a:rPr lang="en-US" dirty="0"/>
              <a:t>, </a:t>
            </a:r>
            <a:r>
              <a:rPr lang="en-US" dirty="0" err="1"/>
              <a:t>ler</a:t>
            </a:r>
            <a:r>
              <a:rPr lang="en-US" dirty="0"/>
              <a:t> </a:t>
            </a:r>
            <a:r>
              <a:rPr lang="en-US" dirty="0" err="1"/>
              <a:t>rapidamente</a:t>
            </a:r>
            <a:r>
              <a:rPr lang="en-US" dirty="0"/>
              <a:t> as </a:t>
            </a:r>
            <a:r>
              <a:rPr lang="en-US" dirty="0" err="1"/>
              <a:t>matrizes</a:t>
            </a:r>
            <a:r>
              <a:rPr lang="en-US" dirty="0"/>
              <a:t> de </a:t>
            </a:r>
            <a:r>
              <a:rPr lang="en-US" dirty="0" err="1"/>
              <a:t>confusão</a:t>
            </a:r>
            <a:r>
              <a:rPr lang="en-US" dirty="0"/>
              <a:t>: a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força</a:t>
            </a:r>
            <a:r>
              <a:rPr lang="en-US" dirty="0"/>
              <a:t> dos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reconhecer</a:t>
            </a:r>
            <a:r>
              <a:rPr lang="en-US" dirty="0"/>
              <a:t> </a:t>
            </a:r>
            <a:r>
              <a:rPr lang="en-US" dirty="0" err="1"/>
              <a:t>jogos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equipa</a:t>
            </a:r>
            <a:r>
              <a:rPr lang="en-US" dirty="0"/>
              <a:t> soma </a:t>
            </a:r>
            <a:r>
              <a:rPr lang="en-US" dirty="0" err="1"/>
              <a:t>pontos</a:t>
            </a:r>
            <a:r>
              <a:rPr lang="en-US" dirty="0"/>
              <a:t>.
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importa</a:t>
            </a:r>
            <a:r>
              <a:rPr lang="en-US" dirty="0"/>
              <a:t> </a:t>
            </a:r>
            <a:r>
              <a:rPr lang="en-US" dirty="0" err="1"/>
              <a:t>dizer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prever</a:t>
            </a:r>
            <a:r>
              <a:rPr lang="en-US" dirty="0"/>
              <a:t> </a:t>
            </a:r>
            <a:r>
              <a:rPr lang="en-US" dirty="0" err="1"/>
              <a:t>derrotas</a:t>
            </a:r>
            <a:r>
              <a:rPr lang="en-US" dirty="0"/>
              <a:t> continua a ser a </a:t>
            </a:r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exigente</a:t>
            </a:r>
            <a:r>
              <a:rPr lang="en-US" dirty="0"/>
              <a:t> do </a:t>
            </a:r>
            <a:r>
              <a:rPr lang="en-US" dirty="0" err="1"/>
              <a:t>problema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Este slide encerra a fase de modelação e mostra dois aspetos essenciais: a capacidade preditiva dos modelos e a interpretação das variáveis mais influentes.</a:t>
            </a:r>
          </a:p>
          <a:p>
            <a:r>
              <a:rPr lang="pt-PT" dirty="0"/>
              <a:t>Começo pela curva ROC, porque ela permite avaliar se o modelo consegue distinguir equipas com melhor e pior desempenho de forma consistente. Quanto mais a curva se afastar da linha diagonal, que representa uma classificação ao acaso, melhor é a capacidade de separação do modelo. Assim, a mensagem principal aqui é que o modelo não está a adivinhar: existe efetivamente sinal útil nos dados.</a:t>
            </a:r>
          </a:p>
          <a:p>
            <a:r>
              <a:rPr lang="pt-PT" dirty="0"/>
              <a:t>Depois, passo para a importância das variáveis, porque esta análise ajuda a perceber quais os fatores que mais contribuem para as previsões. Neste caso, observa-se que variáveis ligadas à produção ofensiva e à solidez defensiva surgem entre as mais relevantes, o que reforça uma ideia já identificada ao longo da análise exploratória: o desempenho das equipas depende muito do equilíbrio entre a capacidade de criar oportunidades e a capacidade de limitar o adversário.</a:t>
            </a:r>
          </a:p>
          <a:p>
            <a:r>
              <a:rPr lang="pt-PT" dirty="0"/>
              <a:t>Em termos práticos, este slide mostra que os modelos têm utilidade analítica e que os resultados fazem sentido do ponto de vista futebolístico, porque confirmam padrões coerentes com o jogo.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Fechar</a:t>
            </a:r>
            <a:r>
              <a:rPr lang="en-US" dirty="0"/>
              <a:t> a </a:t>
            </a:r>
            <a:r>
              <a:rPr lang="en-US" dirty="0" err="1"/>
              <a:t>apresentação</a:t>
            </a:r>
            <a:r>
              <a:rPr lang="en-US" dirty="0"/>
              <a:t> com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síntese</a:t>
            </a:r>
            <a:r>
              <a:rPr lang="en-US" dirty="0"/>
              <a:t>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clara</a:t>
            </a:r>
            <a:r>
              <a:rPr lang="en-US" dirty="0"/>
              <a:t> e </a:t>
            </a:r>
            <a:r>
              <a:rPr lang="en-US" dirty="0" err="1"/>
              <a:t>verbalizável</a:t>
            </a:r>
            <a:r>
              <a:rPr lang="en-US" dirty="0"/>
              <a:t>.
Se </a:t>
            </a:r>
            <a:r>
              <a:rPr lang="en-US" dirty="0" err="1"/>
              <a:t>houver</a:t>
            </a:r>
            <a:r>
              <a:rPr lang="en-US" dirty="0"/>
              <a:t> tempo para </a:t>
            </a:r>
            <a:r>
              <a:rPr lang="en-US" dirty="0" err="1"/>
              <a:t>apenas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ideia</a:t>
            </a:r>
            <a:r>
              <a:rPr lang="en-US" dirty="0"/>
              <a:t> final, usar a </a:t>
            </a:r>
            <a:r>
              <a:rPr lang="en-US" dirty="0" err="1"/>
              <a:t>frase</a:t>
            </a:r>
            <a:r>
              <a:rPr lang="en-US" dirty="0"/>
              <a:t> da </a:t>
            </a:r>
            <a:r>
              <a:rPr lang="en-US" dirty="0" err="1"/>
              <a:t>caixa</a:t>
            </a:r>
            <a:r>
              <a:rPr lang="en-US" dirty="0"/>
              <a:t>: o </a:t>
            </a:r>
            <a:r>
              <a:rPr lang="en-US" dirty="0" err="1"/>
              <a:t>sucesso</a:t>
            </a:r>
            <a:r>
              <a:rPr lang="en-US" dirty="0"/>
              <a:t> </a:t>
            </a:r>
            <a:r>
              <a:rPr lang="en-US" dirty="0" err="1"/>
              <a:t>sustentável</a:t>
            </a:r>
            <a:r>
              <a:rPr lang="en-US" dirty="0"/>
              <a:t> </a:t>
            </a:r>
            <a:r>
              <a:rPr lang="en-US" dirty="0" err="1"/>
              <a:t>vem</a:t>
            </a:r>
            <a:r>
              <a:rPr lang="en-US" dirty="0"/>
              <a:t> do </a:t>
            </a:r>
            <a:r>
              <a:rPr lang="en-US" dirty="0" err="1"/>
              <a:t>equilíbrio</a:t>
            </a:r>
            <a:r>
              <a:rPr lang="en-US" dirty="0"/>
              <a:t> entre </a:t>
            </a:r>
            <a:r>
              <a:rPr lang="en-US" dirty="0" err="1"/>
              <a:t>ataque</a:t>
            </a:r>
            <a:r>
              <a:rPr lang="en-US" dirty="0"/>
              <a:t>, </a:t>
            </a:r>
            <a:r>
              <a:rPr lang="en-US" dirty="0" err="1"/>
              <a:t>defesa</a:t>
            </a:r>
            <a:r>
              <a:rPr lang="en-US" dirty="0"/>
              <a:t> e </a:t>
            </a:r>
            <a:r>
              <a:rPr lang="en-US" dirty="0" err="1"/>
              <a:t>consistência</a:t>
            </a:r>
            <a:r>
              <a:rPr lang="en-US"/>
              <a:t>.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33856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‹#›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960120"/>
            <a:ext cx="5394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Desempenho no Futebol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Sucesso das Equipas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2225282"/>
            <a:ext cx="4983480" cy="1774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U.C. </a:t>
            </a:r>
            <a:r>
              <a:rPr lang="en-US" sz="1600" dirty="0" err="1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Visualização</a:t>
            </a:r>
            <a:r>
              <a:rPr lang="en-US" sz="16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Dados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  <a:latin typeface="Aptos" pitchFamily="34" charset="0"/>
              </a:rPr>
              <a:t>Prof. Maryam Abbasi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Escola Superior de Gestão e </a:t>
            </a:r>
            <a:r>
              <a:rPr lang="en-US" sz="1600" dirty="0" err="1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Tecnologia</a:t>
            </a:r>
            <a:endParaRPr lang="en-US" sz="1600" dirty="0">
              <a:solidFill>
                <a:srgbClr val="5B657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Instituto Politécnico de Santarém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Isaac Mendes, Rodrigo Calado &amp; Tiago Amorim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470362"/>
            <a:ext cx="1005840" cy="0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3232" y="4555265"/>
            <a:ext cx="4609603" cy="572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Compreender que métricas explicam o sucesso e até que ponto o resultado do jogo pode ser previsto.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02164" y="845819"/>
            <a:ext cx="5719276" cy="5166360"/>
          </a:xfrm>
          <a:prstGeom prst="roundRect">
            <a:avLst>
              <a:gd name="adj" fmla="val 1441"/>
            </a:avLst>
          </a:prstGeom>
          <a:solidFill>
            <a:srgbClr val="FBFDFC"/>
          </a:solidFill>
          <a:ln w="12700">
            <a:solidFill>
              <a:srgbClr val="D7E5D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" name="Image 0" descr="/mnt/data/ppt_work/assets/xg_suc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085" y="1739784"/>
            <a:ext cx="5021433" cy="337842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Conjunto de dados e método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empírica e etapas da análise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52729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24 580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908761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observações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37945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40080" y="2493977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variáveis originais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2316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168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40080" y="3079193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0837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40080" y="3664409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ligas europeias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93593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2014–2020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0080" y="4249625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intervalo temporal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98648" y="1652729"/>
            <a:ext cx="44403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98647" y="1927049"/>
            <a:ext cx="4440395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Dados por jogo nas ligas Bundesliga, EPL, La Liga, Ligue 1, RFPL e Serie A.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Inclui métricas ofensivas e defensivas como xG, xGA, npxG, npxGA, PPDA, deep e xPts.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data foi convertida logo no </a:t>
            </a:r>
            <a:r>
              <a:rPr lang="en-US" sz="16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carregamento</a:t>
            </a: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suportar análise temporal e agregação por época.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68488" y="1652565"/>
            <a:ext cx="24752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Preparação e modelação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68488" y="1926885"/>
            <a:ext cx="4099415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Foram removidas variáveis com leakage, como year, wins, draws e loses.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análise combinou EDA, correlações, agregação por época e classificação binária.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Modelos testados: Regressão Logística e Random Forest.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65576" y="4807409"/>
            <a:ext cx="1097280" cy="0"/>
          </a:xfrm>
          <a:prstGeom prst="line">
            <a:avLst/>
          </a:prstGeom>
          <a:noFill/>
          <a:ln w="19050">
            <a:solidFill>
              <a:srgbClr val="B8C7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22976" y="4807409"/>
            <a:ext cx="1097280" cy="0"/>
          </a:xfrm>
          <a:prstGeom prst="line">
            <a:avLst/>
          </a:prstGeom>
          <a:noFill/>
          <a:ln w="19050">
            <a:solidFill>
              <a:srgbClr val="B8C7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68488" y="4777280"/>
            <a:ext cx="1097280" cy="0"/>
          </a:xfrm>
          <a:prstGeom prst="line">
            <a:avLst/>
          </a:prstGeom>
          <a:noFill/>
          <a:ln w="19050">
            <a:solidFill>
              <a:srgbClr val="B8C7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15768" y="4487369"/>
            <a:ext cx="621792" cy="621792"/>
          </a:xfrm>
          <a:prstGeom prst="ellipse">
            <a:avLst/>
          </a:prstGeom>
          <a:solidFill>
            <a:srgbClr val="F3FBF6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15768" y="4715969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514600" y="5218889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Carregar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preparar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73168" y="4487369"/>
            <a:ext cx="621792" cy="621792"/>
          </a:xfrm>
          <a:prstGeom prst="ellipse">
            <a:avLst/>
          </a:prstGeom>
          <a:solidFill>
            <a:srgbClr val="F3FBF6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3168" y="4705575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0" y="5218889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30568" y="4487369"/>
            <a:ext cx="621792" cy="621792"/>
          </a:xfrm>
          <a:prstGeom prst="ellipse">
            <a:avLst/>
          </a:prstGeom>
          <a:solidFill>
            <a:srgbClr val="F3FBF6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30568" y="471491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29400" y="5218889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Agregação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época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887968" y="4487369"/>
            <a:ext cx="621792" cy="621792"/>
          </a:xfrm>
          <a:prstGeom prst="ellipse">
            <a:avLst/>
          </a:prstGeom>
          <a:solidFill>
            <a:srgbClr val="F3FBF6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887968" y="4715969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686800" y="5218889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Explicação das variáveis utilizadas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rápida das métricas usadas na análise e na modelação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04672" y="1481328"/>
            <a:ext cx="5257800" cy="1508760"/>
          </a:xfrm>
          <a:prstGeom prst="roundRect">
            <a:avLst>
              <a:gd name="adj" fmla="val 3030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50976" y="1591056"/>
            <a:ext cx="496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ofensivas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0976" y="1828800"/>
            <a:ext cx="49651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xG: golos esperados, isto é, a qualidade das ocasiões criadas.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npxG: versão do xG sem penáltis.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deep: entradas com bola em zonas avançadas/perigosas.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481328"/>
            <a:ext cx="5212080" cy="1508760"/>
          </a:xfrm>
          <a:prstGeom prst="roundRect">
            <a:avLst>
              <a:gd name="adj" fmla="val 3030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18504" y="1591056"/>
            <a:ext cx="4919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defensivas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18504" y="1828800"/>
            <a:ext cx="491947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xGA: golos esperados concedidos ao adversário.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npxGA: versão do xGA sem penáltis.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deep_allowed: entradas perigosas que a equipa permite.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" y="3246120"/>
            <a:ext cx="5257800" cy="1554480"/>
          </a:xfrm>
          <a:prstGeom prst="roundRect">
            <a:avLst>
              <a:gd name="adj" fmla="val 2941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50976" y="3355848"/>
            <a:ext cx="496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Pressão e intensidade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0976" y="3593592"/>
            <a:ext cx="49651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PPDA: quantos passes o adversário consegue fazer antes de uma ação defensiva; valores mais baixos sugerem maior pressão.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OPPDA: a mesma lógica, mas observada do lado do adversário.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3246120"/>
            <a:ext cx="5212080" cy="1554480"/>
          </a:xfrm>
          <a:prstGeom prst="roundRect">
            <a:avLst>
              <a:gd name="adj" fmla="val 2941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18504" y="3355848"/>
            <a:ext cx="4919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Síntese e valor esperado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18504" y="3593592"/>
            <a:ext cx="4919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npxGD = npxG - npxGA, ou seja, saldo ofensivo-defensivo sem penáltis.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xPts: pontos esperados segundo o desempenho do jogo.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xPts_diff: diferença entre pontos reais e pontos esperados.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" y="5065776"/>
            <a:ext cx="10579608" cy="822960"/>
          </a:xfrm>
          <a:prstGeom prst="roundRect">
            <a:avLst>
              <a:gd name="adj" fmla="val 7317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9264" y="5175504"/>
            <a:ext cx="10250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Ligação ao modelo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" y="5449824"/>
            <a:ext cx="10250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modelo final, o alvo é “ganhar pontos”: vitória ou empate = 1; derrota = 0. Assim, estas variáveis servem para explicar o rendimento antes do resultado final.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Factores contextuais e sucesso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fatores contextuais, como a liga ou o local do jogo, influenciam o sucesso da equipa?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1" y="1706101"/>
            <a:ext cx="4030596" cy="280784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Entre ligas, a média de pontos por jogo quase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não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muda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, oscila apenas entre 1,36 e 1,38.</a:t>
            </a:r>
            <a:endParaRPr lang="en-US" dirty="0">
              <a:latin typeface="+mj-lt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O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efeito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 “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em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 casa” é claro, as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equipas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 fazem 1,60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pontos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em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média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, face a 1,15 fora.</a:t>
            </a:r>
            <a:endParaRPr lang="en-US" dirty="0">
              <a:latin typeface="+mj-lt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O resultado mapeia diretamente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os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pontos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,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onde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,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vitória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 = 3, empate = 1 e derrota = 0.</a:t>
            </a:r>
            <a:endParaRPr lang="en-US" dirty="0">
              <a:latin typeface="+mj-lt"/>
            </a:endParaRPr>
          </a:p>
        </p:txBody>
      </p:sp>
      <p:pic>
        <p:nvPicPr>
          <p:cNvPr id="6" name="Image 0" descr="/mnt/data/ppt_work/assets/contex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96" y="2050627"/>
            <a:ext cx="6629400" cy="21187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05918" y="4818477"/>
            <a:ext cx="7780163" cy="960120"/>
          </a:xfrm>
          <a:prstGeom prst="roundRect">
            <a:avLst>
              <a:gd name="adj" fmla="val 5714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370510" y="4902567"/>
            <a:ext cx="7451110" cy="20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rápida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370510" y="5202525"/>
            <a:ext cx="745111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competitivo tem pouco peso entre ligas, mas jogar em casa continua a ser uma vantagem estrutural.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de jogo e resultado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que forma os indicadores de desempenho se relacionam com os resultados dos jogos? 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09097"/>
            <a:ext cx="3749040" cy="3798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Quanto mais golos uma equipa marca, maior é a probabilidade de sair com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pontos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, sobretudo com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vitória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.</a:t>
            </a:r>
            <a:endParaRPr lang="en-US" dirty="0">
              <a:latin typeface="+mj-lt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Pelo contrário, sofrer mais golos empurra claramente o jogo para a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derrota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.</a:t>
            </a:r>
            <a:endParaRPr lang="en-US" dirty="0">
              <a:latin typeface="+mj-lt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As equipas vencedoras tendem a ter melhor xPts e a superar o que seria esperado no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encontro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.</a:t>
            </a:r>
            <a:endParaRPr lang="en-US" dirty="0">
              <a:latin typeface="+mj-lt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As derrotadas mostram o padrão inverso: menos produção e pior alinhamento com o resultado desejado.</a:t>
            </a:r>
            <a:endParaRPr lang="en-US" dirty="0">
              <a:latin typeface="+mj-lt"/>
            </a:endParaRPr>
          </a:p>
        </p:txBody>
      </p:sp>
      <p:pic>
        <p:nvPicPr>
          <p:cNvPr id="6" name="Image 0" descr="/mnt/data/ppt_work/assets/metricas_resul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705433"/>
            <a:ext cx="6720840" cy="40055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Variáveis mais ligadas ao sucesso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Quais são as variáveis mais fortemente correlacionadas com o sucesso da equipa?</a:t>
            </a:r>
            <a:endParaRPr lang="en-US" sz="1400" dirty="0"/>
          </a:p>
        </p:txBody>
      </p:sp>
      <p:pic>
        <p:nvPicPr>
          <p:cNvPr id="5" name="Image 0" descr="/mnt/data/ppt_work/assets/correlac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84760"/>
            <a:ext cx="4892040" cy="40462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80760" y="1636776"/>
            <a:ext cx="4709160" cy="2852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Os pontos têm correlação positiva forte com os golos marcados (0,66) e com xPts (0,60).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Sofrer golos surge com correlação negativa forte (-0,60), confirmando o peso da organização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defensiva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A variável xPts_diff apresenta a ligação mais intensa (-0,78), sugerindo que ficar aquém do esperado penaliza fortemente o resultado.</a:t>
            </a:r>
            <a:endParaRPr lang="en-US" dirty="0">
              <a:latin typeface="+mj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080760" y="4581144"/>
            <a:ext cx="4709160" cy="1188720"/>
          </a:xfrm>
          <a:prstGeom prst="roundRect">
            <a:avLst>
              <a:gd name="adj" fmla="val 4615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45352" y="4690872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principal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45352" y="4965192"/>
            <a:ext cx="4379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sucesso competitivo nasce do </a:t>
            </a:r>
            <a:r>
              <a:rPr lang="en-US" sz="15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equilíbrio</a:t>
            </a: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criar mais, conceder menos e converter o desempenho esperado em pontos reais.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Distribuição das métricas-chave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é a distribuição dos principais indicadores de desempenho?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51166"/>
            <a:ext cx="3453011" cy="401020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xG e xGA apresentam perfis muito semelhantes, o que sugere equilíbrio médio entre criação e concessão de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ocasiões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.</a:t>
            </a:r>
            <a:endParaRPr lang="en-US" dirty="0">
              <a:latin typeface="+mj-lt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Ambas as distribuições são enviesadas à direita: há muitos jogos com valores modestos e poucos casos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extremos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.</a:t>
            </a:r>
            <a:endParaRPr lang="en-US" dirty="0">
              <a:latin typeface="+mj-lt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Os pontos surgem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como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uma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variável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 discreta, concentrada nos valores 0, 1 e 3, o que aproxima esta tarefa da previsão do desfecho do jogo.</a:t>
            </a:r>
            <a:endParaRPr lang="en-US" dirty="0">
              <a:latin typeface="+mj-lt"/>
            </a:endParaRPr>
          </a:p>
        </p:txBody>
      </p:sp>
      <p:pic>
        <p:nvPicPr>
          <p:cNvPr id="6" name="Image 0" descr="/mnt/data/ppt_work/assets/distribuic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931" y="2657681"/>
            <a:ext cx="7259169" cy="22379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Equipas mais consistentes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Quais foram as equipas que tiveram mais sucesso ao longo do tempo?</a:t>
            </a:r>
            <a:endParaRPr lang="en-US" sz="1400" dirty="0"/>
          </a:p>
        </p:txBody>
      </p:sp>
      <p:pic>
        <p:nvPicPr>
          <p:cNvPr id="5" name="Image 0" descr="/mnt/data/ppt_work/assets/top_clu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65982"/>
            <a:ext cx="6583680" cy="4226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08392" y="1274006"/>
            <a:ext cx="3749040" cy="354992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Barcelona e Juventus lideram com 89,5 pontos médios por época entre 2014 e 2019.</a:t>
            </a:r>
          </a:p>
          <a:p>
            <a:pPr marL="0" indent="0">
              <a:buNone/>
            </a:pPr>
            <a:endParaRPr lang="en-US" sz="1000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Paris Saint-Germain surge logo atrás, com 86,3 pontos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médios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1000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O top inclui clubes de várias ligas, mostrando que a consistência não depende de um único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campeonato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sz="1000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A agregação por época permite comparar sucesso sustentado, e não apenas jogos isolados.</a:t>
            </a:r>
            <a:endParaRPr lang="en-US" dirty="0">
              <a:latin typeface="+mj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689078" y="4974846"/>
            <a:ext cx="3749040" cy="1078482"/>
          </a:xfrm>
          <a:prstGeom prst="roundRect">
            <a:avLst>
              <a:gd name="adj" fmla="val 6316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19486" y="504859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rápida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19402" y="5229508"/>
            <a:ext cx="3572142" cy="762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passamos do jogo para a época, o foco deixa de ser um </a:t>
            </a:r>
            <a:r>
              <a:rPr lang="en-US" sz="15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encontro</a:t>
            </a: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</a:t>
            </a: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acaso</a:t>
            </a: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passa a ser a regularidade competitiva.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xG ofensivo e sucesso da equipa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desempenho ofensivo (xG) traduz-se em sucesso da equipa nas diferentes ligas?</a:t>
            </a:r>
            <a:endParaRPr lang="en-US" sz="1400" dirty="0"/>
          </a:p>
        </p:txBody>
      </p:sp>
      <p:pic>
        <p:nvPicPr>
          <p:cNvPr id="5" name="Image 0" descr="/mnt/data/ppt_work/assets/xg_suc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28450"/>
            <a:ext cx="6995160" cy="47063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66815" y="2390172"/>
            <a:ext cx="4022933" cy="305127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A relação é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claramente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 positive, equipas com xG médio mais alto tendem a somar mais pontos na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época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O padrão mantém-se nas diferentes ligas, o que reforça a robustez do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indicador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Em termos práticos, criar oportunidades de maior qualidade é um dos sinais mais consistentes de sucesso.</a:t>
            </a:r>
            <a:endParaRPr lang="en-US" dirty="0">
              <a:latin typeface="+mj-lt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Previsão do resultado do jogo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Até que ponto conseguimos prever os resultados dos jogos utilizando indicadores de desempenho?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79" y="1630791"/>
            <a:ext cx="4944997" cy="311195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Alvo: vitória ou empate = 1, derrota = 0.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Variáveis usadas: xG, xGA, npxG, npxGA, deep, deep_allowed, npxGD, PPDA e OPPDA (definidas no slide anterior).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Divisão: 19 664 observações para treino e 4916 para teste.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A classe “ganhar pontos” representa 62,6% dos jogos.</a:t>
            </a:r>
            <a:endParaRPr lang="en-US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5053490"/>
            <a:ext cx="10899307" cy="871822"/>
          </a:xfrm>
          <a:prstGeom prst="roundRect">
            <a:avLst>
              <a:gd name="adj" fmla="val 3871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1" y="5197402"/>
            <a:ext cx="100273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Desempenho global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1" y="5437538"/>
            <a:ext cx="10671048" cy="31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Ambos os modelos atingem cerca de 75% de accuracy. A Regressão Logística tem ligeira vantagem a identificar a classe “Pontos”.</a:t>
            </a:r>
            <a:endParaRPr lang="en-US" sz="1500" dirty="0"/>
          </a:p>
        </p:txBody>
      </p:sp>
      <p:pic>
        <p:nvPicPr>
          <p:cNvPr id="9" name="Image 0" descr="/mnt/data/ppt_work/assets/confu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795" y="1726480"/>
            <a:ext cx="5897880" cy="29205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Qualidade preditiva e variáveis-chave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84582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400" dirty="0">
                <a:solidFill>
                  <a:schemeClr val="bg1">
                    <a:lumMod val="50000"/>
                  </a:schemeClr>
                </a:solidFill>
                <a:ea typeface="Aptos" pitchFamily="34" charset="-122"/>
                <a:cs typeface="Aptos" pitchFamily="34" charset="-120"/>
              </a:rPr>
              <a:t>Em que medida os modelos conseguem distinguir os resultados dos jogos?</a:t>
            </a:r>
          </a:p>
          <a:p>
            <a:r>
              <a:rPr lang="pt-PT" sz="1400" dirty="0">
                <a:solidFill>
                  <a:schemeClr val="bg1">
                    <a:lumMod val="50000"/>
                  </a:schemeClr>
                </a:solidFill>
              </a:rPr>
              <a:t>Quais são os indicadores de desempenho mais importantes para prever o sucesso de uma equipa?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Image 0" descr="/mnt/data/ppt_work/assets/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6" y="1428432"/>
            <a:ext cx="4511868" cy="4160520"/>
          </a:xfrm>
          <a:prstGeom prst="rect">
            <a:avLst/>
          </a:prstGeom>
        </p:spPr>
      </p:pic>
      <p:pic>
        <p:nvPicPr>
          <p:cNvPr id="6" name="Image 1" descr="/mnt/data/ppt_work/assets/importanc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358" y="1431644"/>
            <a:ext cx="5074920" cy="41540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0019" y="5747988"/>
            <a:ext cx="10241280" cy="8539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AUC de 0,826 na Regressão Logística e 0,815 no Random Forest: ambos distinguem bem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os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resultados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.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npxGD é a variável mais importante, seguida de xGA, xG e </a:t>
            </a:r>
            <a:r>
              <a:rPr lang="en-US" dirty="0" err="1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npxGA</a:t>
            </a: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.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  <a:latin typeface="+mj-lt"/>
                <a:ea typeface="Aptos" pitchFamily="34" charset="-122"/>
                <a:cs typeface="Aptos" pitchFamily="34" charset="-120"/>
              </a:rPr>
              <a:t>• O diferencial entre capacidade ofensiva e defensiva é mais informativo do que uma métrica isolada.</a:t>
            </a:r>
            <a:endParaRPr lang="en-US" dirty="0">
              <a:latin typeface="+mj-lt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Conclusões principais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fica desta análise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1565171"/>
            <a:ext cx="420624" cy="420624"/>
          </a:xfrm>
          <a:prstGeom prst="ellipse">
            <a:avLst/>
          </a:prstGeom>
          <a:solidFill>
            <a:srgbClr val="F2FAF5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693187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546883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entre ligas pesa pouco; a vantagem casa pesa bastante.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412176"/>
            <a:ext cx="420624" cy="420624"/>
          </a:xfrm>
          <a:prstGeom prst="ellipse">
            <a:avLst/>
          </a:prstGeom>
          <a:solidFill>
            <a:srgbClr val="F2FAF5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54019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39388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métricas ofensivas e defensivas explicam grande parte do sucesso competitivo.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3347066"/>
            <a:ext cx="420624" cy="420624"/>
          </a:xfrm>
          <a:prstGeom prst="ellipse">
            <a:avLst/>
          </a:prstGeom>
          <a:solidFill>
            <a:srgbClr val="F2FAF5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478075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32877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 nível da época, os clubes mais fortes destacam-se pela regularidade, não apenas por picos de rendimento.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4281956"/>
            <a:ext cx="420624" cy="420624"/>
          </a:xfrm>
          <a:prstGeom prst="ellipse">
            <a:avLst/>
          </a:prstGeom>
          <a:solidFill>
            <a:srgbClr val="F2FAF5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411519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26366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modelos conseguem prever o resultado com qualidade razoável, mas as derrotas continuam mais difíceis de antecipar.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5251650"/>
            <a:ext cx="10104120" cy="789204"/>
          </a:xfrm>
          <a:prstGeom prst="roundRect">
            <a:avLst>
              <a:gd name="adj" fmla="val 7692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33272" y="5327194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final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3272" y="5550239"/>
            <a:ext cx="9774936" cy="48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futebol, ganhar de forma consistente depende de criar mais valor ofensivo, proteger melhor a baliza e transformar esse desempenho em pontos reais ao longo do tempo.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2269</Words>
  <Application>Microsoft Office PowerPoint</Application>
  <PresentationFormat>Ecrã Panorâmico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Desempenho no Futebol e Sucesso das Equipas</dc:title>
  <dc:subject>Análise de desempenho no futebol</dc:subject>
  <dc:creator>OpenAI</dc:creator>
  <cp:lastModifiedBy>Beatriz Santos</cp:lastModifiedBy>
  <cp:revision>56</cp:revision>
  <dcterms:created xsi:type="dcterms:W3CDTF">2026-03-19T13:27:24Z</dcterms:created>
  <dcterms:modified xsi:type="dcterms:W3CDTF">2026-03-24T14:51:18Z</dcterms:modified>
</cp:coreProperties>
</file>