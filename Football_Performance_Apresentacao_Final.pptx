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9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com a ideia central: o projeto procura perceber que métricas de desempenho explicam melhor o sucesso das equipas de futebol. O foco não é apenas mostrar gráficos, mas construir uma narrativa: dados, análise exploratória, agregação por equipa/época e modelos de previsão.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Neste slide explicar a pergunta principal: não basta saber quem ganha; queremos perceber que sinais antecipam esse sucesso. O xG é útil porque mede qualidade das oportunidades, enquanto pts traduz o resultado competitivo.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valida o âmbito real do repositório. O dataset principal chama-se understat_per_game.csv. Depois da preparação são adicionadas variáveis temporais, como mês e metade da época, passando para 31 variáveis.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convém explicar as variáveis mais importantes sem entrar demasiado em detalhe. xG é expected goals; npxG retira penáltis; npxGD é a diferença entre npxG e npxGA e aparece como uma das variáveis mais fortes no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é importante para responder a perguntas sobre implementação. Explicar que o notebook foi transformado num dashboard Streamlit e que existe um pipeline claro: carregar, limpar, analisar, agregar e modelar. Destacar a preocupação com data leakage.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a análise exploratória mostrou que jogar em casa tem um peso claro. Já a comparação simples entre ligas mostra médias muito próximas, o que não significa que as ligas sejam iguais, mas sim que a variável pts tem uma distribuição equilibrada no conjunto.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Neste slide a mensagem deve ser: o sucesso é uma combinação de marcar, evitar sofrer e transformar desempenho esperado em resultado real. Evitar dizer que correlação prova causalidade; dizer antes que indica associação forte no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a agregação por equipa e época transforma dados de jogo em indicadores mais próximos da classificação final. Isto ajuda a ver consistência e não apenas resultados pontuais.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um dos slides mais intuitivos. Apontar a inclinação positiva da linha e explicar que a tendência aparece apesar de haver ligas diferentes. A ideia central: criar oportunidades de qualidade é um dos sinais mais consistentes de sucesso.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a tarefa foi simplificada para classificação binária: perder vs ganhar pelo menos um ponto. A Regressão Logística é boa para leitura simples; o Random Forest ajuda a ver importância das variáveis.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AUC acima de 0,8 mostra boa capacidade discriminativa. Na importância das variáveis, destacar npxGD como síntese do equilíbrio entre criar e conceder. A mensagem: o equilíbrio ataque-defesa vale mais do que olhar para uma métrica isolada.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com quatro mensagens simples: o futebol não é explicado por uma métrica única; jogar em casa importa; o diferencial xG/npxGD resume bem a qualidade da equipa; e os modelos têm poder preditivo razoável, mas sem eliminar a incerteza do jogo.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slide fica para o fim caso o docente peça demonstração. Primeiro clicar no link do GitHub ou mostrar o QR. Depois explicar que o projeto no repositório não aponta para uma versão online publicada: a execução é local em Streamlit. Se estivermos em Windows, basta abrir o ficheiro run.bat; em Linux ou macOS, usar chmod +x run.sh e depois ./run.sh. Como alternativa manual: pip install -r requirements.txt, streamlit run dashboard.py e abrir http://localhost:8501 no navegador. A demo ideal é curta: filtros, correlações, Equipas/Épocas e Machine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Relationship Id="rId3" Type="http://schemas.openxmlformats.org/officeDocument/2006/relationships/hyperlink" Target="https://github.com/oSLaYN/football-performance-team-success" TargetMode="External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football_analytics_bg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1097280"/>
            <a:ext cx="603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Football Performance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and Team Success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85800" y="2788920"/>
            <a:ext cx="1143000" cy="0"/>
          </a:xfrm>
          <a:prstGeom prst="line">
            <a:avLst/>
          </a:prstGeom>
          <a:noFill/>
          <a:ln w="50800">
            <a:solidFill>
              <a:srgbClr val="00A6A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306324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DF6F6"/>
                </a:solidFill>
              </a:rPr>
              <a:t>Apresentação final · Visualização de Dados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13232" y="580644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9E6EA"/>
                </a:solidFill>
              </a:rPr>
              <a:t>Isaac Mendes · Rodrigo Calado · Tiago Amorim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13232" y="6108192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BD"/>
                </a:solidFill>
              </a:rPr>
              <a:t>ESGTS · Instituto Politécnico de Santarém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3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Pergunta de investigação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5039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Que métricas explicam melhor o sucesso competitivo?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12648" y="1170432"/>
            <a:ext cx="914400" cy="0"/>
          </a:xfrm>
          <a:prstGeom prst="line">
            <a:avLst/>
          </a:prstGeom>
          <a:noFill/>
          <a:ln w="29210">
            <a:solidFill>
              <a:srgbClr val="00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08760"/>
            <a:ext cx="4663440" cy="7132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0232F"/>
                </a:solidFill>
              </a:rPr>
              <a:t>O projeto parte de dados reais de jogos europeus e procura ligar desempenho em campo a pontos obtidos.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85800" y="2514600"/>
            <a:ext cx="4709160" cy="1234440"/>
          </a:xfrm>
          <a:prstGeom prst="roundRect">
            <a:avLst>
              <a:gd name="adj" fmla="val 7407"/>
            </a:avLst>
          </a:prstGeom>
          <a:solidFill>
            <a:srgbClr val="F7FBFC"/>
          </a:solidFill>
          <a:ln w="12700">
            <a:solidFill>
              <a:srgbClr val="DDE9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" y="2715768"/>
            <a:ext cx="0" cy="832104"/>
          </a:xfrm>
          <a:prstGeom prst="line">
            <a:avLst/>
          </a:prstGeom>
          <a:noFill/>
          <a:ln w="381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679192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32F"/>
                </a:solidFill>
              </a:rPr>
              <a:t>Hipótese de trabalho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05840" y="3017520"/>
            <a:ext cx="4206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0232F"/>
                </a:solidFill>
              </a:rPr>
              <a:t>Equipas de sucesso combinam criação ofensiva, controlo defensivo e capacidade de converter desempenho esperado em pontos reais.</a:t>
            </a:r>
            <a:endParaRPr lang="en-US" sz="1070" dirty="0"/>
          </a:p>
        </p:txBody>
      </p:sp>
      <p:sp>
        <p:nvSpPr>
          <p:cNvPr id="10" name="Shape 8"/>
          <p:cNvSpPr/>
          <p:nvPr/>
        </p:nvSpPr>
        <p:spPr>
          <a:xfrm>
            <a:off x="685800" y="3977640"/>
            <a:ext cx="4709160" cy="1417320"/>
          </a:xfrm>
          <a:prstGeom prst="roundRect">
            <a:avLst>
              <a:gd name="adj" fmla="val 6452"/>
            </a:avLst>
          </a:prstGeom>
          <a:solidFill>
            <a:srgbClr val="F7FBFC"/>
          </a:solidFill>
          <a:ln w="12700">
            <a:solidFill>
              <a:srgbClr val="DDE9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2104" y="4178808"/>
            <a:ext cx="0" cy="1014984"/>
          </a:xfrm>
          <a:prstGeom prst="line">
            <a:avLst/>
          </a:prstGeom>
          <a:noFill/>
          <a:ln w="38100">
            <a:solidFill>
              <a:srgbClr val="3BA55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142232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32F"/>
                </a:solidFill>
              </a:rPr>
              <a:t>Objetivos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05840" y="4480560"/>
            <a:ext cx="42062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0232F"/>
                </a:solidFill>
              </a:rPr>
              <a:t>1. Explorar o dataset e as variáveis-chave.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0232F"/>
                </a:solidFill>
              </a:rPr>
              <a:t>2. Identificar relações com pts.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0232F"/>
                </a:solidFill>
              </a:rPr>
              <a:t>3. Comparar equipas e épocas.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0232F"/>
                </a:solidFill>
              </a:rPr>
              <a:t>4. Treinar modelos para prever se uma equipa ganha pontos.</a:t>
            </a:r>
            <a:endParaRPr lang="en-US" sz="1070" dirty="0"/>
          </a:p>
        </p:txBody>
      </p:sp>
      <p:pic>
        <p:nvPicPr>
          <p:cNvPr id="14" name="Image 0" descr="/mnt/data/football_charts/xg_vs_poi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693117"/>
            <a:ext cx="5715000" cy="379180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40080" y="6446520"/>
            <a:ext cx="10607040" cy="0"/>
          </a:xfrm>
          <a:prstGeom prst="line">
            <a:avLst/>
          </a:prstGeom>
          <a:noFill/>
          <a:ln w="10160">
            <a:solidFill>
              <a:srgbClr val="D6E1E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651052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Football Performance and Team Success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3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Dados e âmbito do projeto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5039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Dataset Understat por jogo, ligas europeias, 2014–2019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12648" y="1170432"/>
            <a:ext cx="914400" cy="0"/>
          </a:xfrm>
          <a:prstGeom prst="line">
            <a:avLst/>
          </a:prstGeom>
          <a:noFill/>
          <a:ln w="29210">
            <a:solidFill>
              <a:srgbClr val="00A6A6"/>
            </a:solidFill>
            <a:prstDash val="solid"/>
          </a:ln>
        </p:spPr>
      </p:sp>
      <p:pic>
        <p:nvPicPr>
          <p:cNvPr id="5" name="Image 0" descr="/mnt/data/football_charts/league_cou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83901"/>
            <a:ext cx="5715000" cy="284447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37960" y="14173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A6A6"/>
                </a:solidFill>
              </a:rPr>
              <a:t>24 580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6537960" y="185623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B7280"/>
                </a:solidFill>
              </a:rPr>
              <a:t>observações</a:t>
            </a:r>
            <a:endParaRPr lang="en-US" sz="920" dirty="0"/>
          </a:p>
        </p:txBody>
      </p:sp>
      <p:sp>
        <p:nvSpPr>
          <p:cNvPr id="8" name="Text 5"/>
          <p:cNvSpPr/>
          <p:nvPr/>
        </p:nvSpPr>
        <p:spPr>
          <a:xfrm>
            <a:off x="8211312" y="141732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3BA55D"/>
                </a:solidFill>
              </a:rPr>
              <a:t>6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8211312" y="18562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B7280"/>
                </a:solidFill>
              </a:rPr>
              <a:t>ligas</a:t>
            </a:r>
            <a:endParaRPr lang="en-US" sz="920" dirty="0"/>
          </a:p>
        </p:txBody>
      </p:sp>
      <p:sp>
        <p:nvSpPr>
          <p:cNvPr id="10" name="Text 7"/>
          <p:cNvSpPr/>
          <p:nvPr/>
        </p:nvSpPr>
        <p:spPr>
          <a:xfrm>
            <a:off x="9436608" y="14173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F80ED"/>
                </a:solidFill>
              </a:rPr>
              <a:t>168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9436608" y="185623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B7280"/>
                </a:solidFill>
              </a:rPr>
              <a:t>equipas</a:t>
            </a:r>
            <a:endParaRPr lang="en-US" sz="920" dirty="0"/>
          </a:p>
        </p:txBody>
      </p:sp>
      <p:sp>
        <p:nvSpPr>
          <p:cNvPr id="12" name="Text 9"/>
          <p:cNvSpPr/>
          <p:nvPr/>
        </p:nvSpPr>
        <p:spPr>
          <a:xfrm>
            <a:off x="10835640" y="14173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9A21B"/>
                </a:solidFill>
              </a:rPr>
              <a:t>31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10835640" y="185623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B7280"/>
                </a:solidFill>
              </a:rPr>
              <a:t>variáveis após preparação</a:t>
            </a:r>
            <a:endParaRPr lang="en-US" sz="920" dirty="0"/>
          </a:p>
        </p:txBody>
      </p:sp>
      <p:sp>
        <p:nvSpPr>
          <p:cNvPr id="14" name="Shape 11"/>
          <p:cNvSpPr/>
          <p:nvPr/>
        </p:nvSpPr>
        <p:spPr>
          <a:xfrm>
            <a:off x="6537960" y="2788920"/>
            <a:ext cx="4983480" cy="960120"/>
          </a:xfrm>
          <a:prstGeom prst="roundRect">
            <a:avLst>
              <a:gd name="adj" fmla="val 9524"/>
            </a:avLst>
          </a:prstGeom>
          <a:solidFill>
            <a:srgbClr val="F7FBFC"/>
          </a:solidFill>
          <a:ln w="12700">
            <a:solidFill>
              <a:srgbClr val="DDE9E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684264" y="2990088"/>
            <a:ext cx="0" cy="557784"/>
          </a:xfrm>
          <a:prstGeom prst="line">
            <a:avLst/>
          </a:prstGeom>
          <a:noFill/>
          <a:ln w="38100">
            <a:solidFill>
              <a:srgbClr val="00A6A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0" y="2953512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32F"/>
                </a:solidFill>
              </a:rPr>
              <a:t>Cobertura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858000" y="3291840"/>
            <a:ext cx="4480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0232F"/>
                </a:solidFill>
              </a:rPr>
              <a:t>Bundesliga, EPL, La Liga, Ligue 1, RFPL e Serie A. O período observado vai de 2014 a 2019.</a:t>
            </a:r>
            <a:endParaRPr lang="en-US" sz="1070" dirty="0"/>
          </a:p>
        </p:txBody>
      </p:sp>
      <p:sp>
        <p:nvSpPr>
          <p:cNvPr id="18" name="Shape 15"/>
          <p:cNvSpPr/>
          <p:nvPr/>
        </p:nvSpPr>
        <p:spPr>
          <a:xfrm>
            <a:off x="6537960" y="3977640"/>
            <a:ext cx="4983480" cy="1051560"/>
          </a:xfrm>
          <a:prstGeom prst="roundRect">
            <a:avLst>
              <a:gd name="adj" fmla="val 8696"/>
            </a:avLst>
          </a:prstGeom>
          <a:solidFill>
            <a:srgbClr val="F7FBFC"/>
          </a:solidFill>
          <a:ln w="12700">
            <a:solidFill>
              <a:srgbClr val="DDE9E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684264" y="4178808"/>
            <a:ext cx="0" cy="649224"/>
          </a:xfrm>
          <a:prstGeom prst="line">
            <a:avLst/>
          </a:prstGeom>
          <a:noFill/>
          <a:ln w="38100">
            <a:solidFill>
              <a:srgbClr val="3BA55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58000" y="4142232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32F"/>
                </a:solidFill>
              </a:rPr>
              <a:t>Unidade de análise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858000" y="4480560"/>
            <a:ext cx="4480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0232F"/>
                </a:solidFill>
              </a:rPr>
              <a:t>Cada linha representa a perspetiva de uma equipa num jogo. Isto permite comparar desempenho, contexto e pontos obtidos por partida.</a:t>
            </a:r>
            <a:endParaRPr lang="en-US" sz="1070" dirty="0"/>
          </a:p>
        </p:txBody>
      </p:sp>
      <p:sp>
        <p:nvSpPr>
          <p:cNvPr id="22" name="Shape 19"/>
          <p:cNvSpPr/>
          <p:nvPr/>
        </p:nvSpPr>
        <p:spPr>
          <a:xfrm>
            <a:off x="640080" y="6446520"/>
            <a:ext cx="10607040" cy="0"/>
          </a:xfrm>
          <a:prstGeom prst="line">
            <a:avLst/>
          </a:prstGeom>
          <a:noFill/>
          <a:ln w="10160">
            <a:solidFill>
              <a:srgbClr val="D6E1E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080" y="651052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Football Performance and Team Success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3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Variáveis utilizadas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5039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Do jogo individual à leitura de desempenho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12648" y="1170432"/>
            <a:ext cx="914400" cy="0"/>
          </a:xfrm>
          <a:prstGeom prst="line">
            <a:avLst/>
          </a:prstGeom>
          <a:noFill/>
          <a:ln w="29210">
            <a:solidFill>
              <a:srgbClr val="00A6A6"/>
            </a:solidFill>
            <a:prstDash val="solid"/>
          </a:ln>
        </p:spPr>
      </p:sp>
      <p:pic>
        <p:nvPicPr>
          <p:cNvPr id="5" name="Image 0" descr="/mnt/data/football_charts/result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9797" y="1417320"/>
            <a:ext cx="4685486" cy="3337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371600"/>
            <a:ext cx="5166360" cy="960120"/>
          </a:xfrm>
          <a:prstGeom prst="roundRect">
            <a:avLst>
              <a:gd name="adj" fmla="val 9524"/>
            </a:avLst>
          </a:prstGeom>
          <a:solidFill>
            <a:srgbClr val="F7FBFC"/>
          </a:solidFill>
          <a:ln w="12700">
            <a:solidFill>
              <a:srgbClr val="DDE9E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32104" y="1572768"/>
            <a:ext cx="0" cy="557784"/>
          </a:xfrm>
          <a:prstGeom prst="line">
            <a:avLst/>
          </a:prstGeom>
          <a:noFill/>
          <a:ln w="38100">
            <a:solidFill>
              <a:srgbClr val="00A6A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536192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32F"/>
                </a:solidFill>
              </a:rPr>
              <a:t>Ofensivas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005840" y="1874520"/>
            <a:ext cx="4663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0232F"/>
                </a:solidFill>
              </a:rPr>
              <a:t>xG, npxG, scored e deep medem criação, finalização e chegada a zonas perigosas.</a:t>
            </a:r>
            <a:endParaRPr lang="en-US" sz="1070" dirty="0"/>
          </a:p>
        </p:txBody>
      </p:sp>
      <p:sp>
        <p:nvSpPr>
          <p:cNvPr id="10" name="Shape 7"/>
          <p:cNvSpPr/>
          <p:nvPr/>
        </p:nvSpPr>
        <p:spPr>
          <a:xfrm>
            <a:off x="685800" y="2578608"/>
            <a:ext cx="5166360" cy="960120"/>
          </a:xfrm>
          <a:prstGeom prst="roundRect">
            <a:avLst>
              <a:gd name="adj" fmla="val 9524"/>
            </a:avLst>
          </a:prstGeom>
          <a:solidFill>
            <a:srgbClr val="F7FBFC"/>
          </a:solidFill>
          <a:ln w="12700">
            <a:solidFill>
              <a:srgbClr val="DDE9E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32104" y="2779776"/>
            <a:ext cx="0" cy="557784"/>
          </a:xfrm>
          <a:prstGeom prst="line">
            <a:avLst/>
          </a:prstGeom>
          <a:noFill/>
          <a:ln w="38100">
            <a:solidFill>
              <a:srgbClr val="D24A3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5840" y="2743200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32F"/>
                </a:solidFill>
              </a:rPr>
              <a:t>Defensivas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005840" y="3081528"/>
            <a:ext cx="4663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0232F"/>
                </a:solidFill>
              </a:rPr>
              <a:t>xGA, npxGA, missed e deep_allowed quantificam oportunidades concedidas e fragilidade defensiva.</a:t>
            </a:r>
            <a:endParaRPr lang="en-US" sz="1070" dirty="0"/>
          </a:p>
        </p:txBody>
      </p:sp>
      <p:sp>
        <p:nvSpPr>
          <p:cNvPr id="14" name="Shape 11"/>
          <p:cNvSpPr/>
          <p:nvPr/>
        </p:nvSpPr>
        <p:spPr>
          <a:xfrm>
            <a:off x="685800" y="3785616"/>
            <a:ext cx="5166360" cy="960120"/>
          </a:xfrm>
          <a:prstGeom prst="roundRect">
            <a:avLst>
              <a:gd name="adj" fmla="val 9524"/>
            </a:avLst>
          </a:prstGeom>
          <a:solidFill>
            <a:srgbClr val="F7FBFC"/>
          </a:solidFill>
          <a:ln w="12700">
            <a:solidFill>
              <a:srgbClr val="DDE9E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2104" y="3986784"/>
            <a:ext cx="0" cy="557784"/>
          </a:xfrm>
          <a:prstGeom prst="line">
            <a:avLst/>
          </a:prstGeom>
          <a:noFill/>
          <a:ln w="38100">
            <a:solidFill>
              <a:srgbClr val="3BA55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05840" y="3950208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32F"/>
                </a:solidFill>
              </a:rPr>
              <a:t>Pressão e controlo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005840" y="4288536"/>
            <a:ext cx="4663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0232F"/>
                </a:solidFill>
              </a:rPr>
              <a:t>ppda_coef e oppda_coef aproximam intensidade de pressão; npxGD resume o equilíbrio ataque–defesa.</a:t>
            </a:r>
            <a:endParaRPr lang="en-US" sz="1070" dirty="0"/>
          </a:p>
        </p:txBody>
      </p:sp>
      <p:sp>
        <p:nvSpPr>
          <p:cNvPr id="18" name="Shape 15"/>
          <p:cNvSpPr/>
          <p:nvPr/>
        </p:nvSpPr>
        <p:spPr>
          <a:xfrm>
            <a:off x="6812280" y="5047488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0B1F2A">
              <a:alpha val="92000"/>
            </a:srgbClr>
          </a:solidFill>
          <a:ln w="12700">
            <a:solidFill>
              <a:srgbClr val="0B1F2A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03720" y="5111496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Target estatístico: pts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492240" y="5413248"/>
            <a:ext cx="475488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0232F"/>
                </a:solidFill>
              </a:rPr>
              <a:t>A variável-alvo principal é pts: 3 para vitória, 1 para empate e 0 para derrota. Para Machine Learning foi criada uma versão binária: ganhar pontos vs perder.</a:t>
            </a:r>
            <a:endParaRPr lang="en-US" sz="1320" dirty="0"/>
          </a:p>
        </p:txBody>
      </p:sp>
      <p:sp>
        <p:nvSpPr>
          <p:cNvPr id="21" name="Shape 18"/>
          <p:cNvSpPr/>
          <p:nvPr/>
        </p:nvSpPr>
        <p:spPr>
          <a:xfrm>
            <a:off x="640080" y="6446520"/>
            <a:ext cx="10607040" cy="0"/>
          </a:xfrm>
          <a:prstGeom prst="line">
            <a:avLst/>
          </a:prstGeom>
          <a:noFill/>
          <a:ln w="10160">
            <a:solidFill>
              <a:srgbClr val="D6E1E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651052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Football Performance and Team Success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3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implementado no repositório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5039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Notebook original + dashboard Streamlit final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12648" y="1170432"/>
            <a:ext cx="914400" cy="0"/>
          </a:xfrm>
          <a:prstGeom prst="line">
            <a:avLst/>
          </a:prstGeom>
          <a:noFill/>
          <a:ln w="29210">
            <a:solidFill>
              <a:srgbClr val="00A6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65960" y="2816352"/>
            <a:ext cx="1234440" cy="0"/>
          </a:xfrm>
          <a:prstGeom prst="line">
            <a:avLst/>
          </a:prstGeom>
          <a:noFill/>
          <a:ln w="25400">
            <a:solidFill>
              <a:srgbClr val="B6C8D0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251960" y="2816352"/>
            <a:ext cx="1234440" cy="0"/>
          </a:xfrm>
          <a:prstGeom prst="line">
            <a:avLst/>
          </a:prstGeom>
          <a:noFill/>
          <a:ln w="25400">
            <a:solidFill>
              <a:srgbClr val="B6C8D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537960" y="2816352"/>
            <a:ext cx="1234440" cy="0"/>
          </a:xfrm>
          <a:prstGeom prst="line">
            <a:avLst/>
          </a:prstGeom>
          <a:noFill/>
          <a:ln w="25400">
            <a:solidFill>
              <a:srgbClr val="B6C8D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823960" y="2816352"/>
            <a:ext cx="1234440" cy="0"/>
          </a:xfrm>
          <a:prstGeom prst="line">
            <a:avLst/>
          </a:prstGeom>
          <a:noFill/>
          <a:ln w="25400">
            <a:solidFill>
              <a:srgbClr val="B6C8D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0080" y="2176272"/>
            <a:ext cx="1554480" cy="1207008"/>
          </a:xfrm>
          <a:prstGeom prst="roundRect">
            <a:avLst>
              <a:gd name="adj" fmla="val 9091"/>
            </a:avLst>
          </a:prstGeom>
          <a:solidFill>
            <a:srgbClr val="F7FBFC"/>
          </a:solidFill>
          <a:ln w="12700">
            <a:solidFill>
              <a:srgbClr val="DDE9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3957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32F"/>
                </a:solidFill>
              </a:rPr>
              <a:t>CSV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276148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B7280"/>
                </a:solidFill>
              </a:rPr>
              <a:t>understat_per_game.csv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2926080" y="2176272"/>
            <a:ext cx="1554480" cy="1207008"/>
          </a:xfrm>
          <a:prstGeom prst="roundRect">
            <a:avLst>
              <a:gd name="adj" fmla="val 9091"/>
            </a:avLst>
          </a:prstGeom>
          <a:solidFill>
            <a:srgbClr val="F7FBFC"/>
          </a:solidFill>
          <a:ln w="12700">
            <a:solidFill>
              <a:srgbClr val="DDE9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63240" y="23957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32F"/>
                </a:solidFill>
              </a:rPr>
              <a:t>Preparação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63240" y="276148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B7280"/>
                </a:solidFill>
              </a:rPr>
              <a:t>datas, missing values, PPDA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5212080" y="2176272"/>
            <a:ext cx="1554480" cy="1207008"/>
          </a:xfrm>
          <a:prstGeom prst="roundRect">
            <a:avLst>
              <a:gd name="adj" fmla="val 9091"/>
            </a:avLst>
          </a:prstGeom>
          <a:solidFill>
            <a:srgbClr val="F7FBFC"/>
          </a:solidFill>
          <a:ln w="12700">
            <a:solidFill>
              <a:srgbClr val="DDE9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9240" y="23957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32F"/>
                </a:solidFill>
              </a:rPr>
              <a:t>EDA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349240" y="276148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B7280"/>
                </a:solidFill>
              </a:rPr>
              <a:t>distribuições e correlações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7498080" y="2176272"/>
            <a:ext cx="1554480" cy="1207008"/>
          </a:xfrm>
          <a:prstGeom prst="roundRect">
            <a:avLst>
              <a:gd name="adj" fmla="val 9091"/>
            </a:avLst>
          </a:prstGeom>
          <a:solidFill>
            <a:srgbClr val="F7FBFC"/>
          </a:solidFill>
          <a:ln w="12700">
            <a:solidFill>
              <a:srgbClr val="DDE9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35240" y="23957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32F"/>
                </a:solidFill>
              </a:rPr>
              <a:t>Agregação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635240" y="276148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B7280"/>
                </a:solidFill>
              </a:rPr>
              <a:t>equipa/época e rankings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9784080" y="2176272"/>
            <a:ext cx="1554480" cy="1207008"/>
          </a:xfrm>
          <a:prstGeom prst="roundRect">
            <a:avLst>
              <a:gd name="adj" fmla="val 9091"/>
            </a:avLst>
          </a:prstGeom>
          <a:solidFill>
            <a:srgbClr val="F7FBFC"/>
          </a:solidFill>
          <a:ln w="12700">
            <a:solidFill>
              <a:srgbClr val="DDE9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21240" y="23957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32F"/>
                </a:solidFill>
              </a:rPr>
              <a:t>ML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921240" y="276148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B7280"/>
                </a:solidFill>
              </a:rPr>
              <a:t>Logistic Regression + Random Forest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777240" y="4224528"/>
            <a:ext cx="5120640" cy="1234440"/>
          </a:xfrm>
          <a:prstGeom prst="roundRect">
            <a:avLst>
              <a:gd name="adj" fmla="val 7407"/>
            </a:avLst>
          </a:prstGeom>
          <a:solidFill>
            <a:srgbClr val="F7FBFC"/>
          </a:solidFill>
          <a:ln w="12700">
            <a:solidFill>
              <a:srgbClr val="DDE9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3544" y="4425696"/>
            <a:ext cx="0" cy="832104"/>
          </a:xfrm>
          <a:prstGeom prst="line">
            <a:avLst/>
          </a:prstGeom>
          <a:noFill/>
          <a:ln w="38100">
            <a:solidFill>
              <a:srgbClr val="00A6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4389120"/>
            <a:ext cx="4617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32F"/>
                </a:solidFill>
              </a:rPr>
              <a:t>Dashboard final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097280" y="4727448"/>
            <a:ext cx="46177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0232F"/>
                </a:solidFill>
              </a:rPr>
              <a:t>Separadores: Visão Geral, EDA, Correlações, Equipas/Épocas, Machine Learning e Variáveis. Os filtros permitem explorar liga, ano e equipa.</a:t>
            </a:r>
            <a:endParaRPr lang="en-US" sz="1070" dirty="0"/>
          </a:p>
        </p:txBody>
      </p:sp>
      <p:sp>
        <p:nvSpPr>
          <p:cNvPr id="28" name="Shape 26"/>
          <p:cNvSpPr/>
          <p:nvPr/>
        </p:nvSpPr>
        <p:spPr>
          <a:xfrm>
            <a:off x="6263640" y="4224528"/>
            <a:ext cx="5120640" cy="1234440"/>
          </a:xfrm>
          <a:prstGeom prst="roundRect">
            <a:avLst>
              <a:gd name="adj" fmla="val 7407"/>
            </a:avLst>
          </a:prstGeom>
          <a:solidFill>
            <a:srgbClr val="F7FBFC"/>
          </a:solidFill>
          <a:ln w="12700">
            <a:solidFill>
              <a:srgbClr val="DDE9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9944" y="4425696"/>
            <a:ext cx="0" cy="832104"/>
          </a:xfrm>
          <a:prstGeom prst="line">
            <a:avLst/>
          </a:prstGeom>
          <a:noFill/>
          <a:ln w="38100">
            <a:solidFill>
              <a:srgbClr val="3BA55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4389120"/>
            <a:ext cx="4617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32F"/>
                </a:solidFill>
              </a:rPr>
              <a:t>Ponto técnico relevante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583680" y="4727448"/>
            <a:ext cx="46177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0232F"/>
                </a:solidFill>
              </a:rPr>
              <a:t>As colunas que causam data leakage foram excluídas das features. A modelação usa apenas indicadores disponíveis antes de conhecer diretamente o resultado final.</a:t>
            </a:r>
            <a:endParaRPr lang="en-US" sz="1070" dirty="0"/>
          </a:p>
        </p:txBody>
      </p:sp>
      <p:sp>
        <p:nvSpPr>
          <p:cNvPr id="32" name="Shape 30"/>
          <p:cNvSpPr/>
          <p:nvPr/>
        </p:nvSpPr>
        <p:spPr>
          <a:xfrm>
            <a:off x="640080" y="6446520"/>
            <a:ext cx="10607040" cy="0"/>
          </a:xfrm>
          <a:prstGeom prst="line">
            <a:avLst/>
          </a:prstGeom>
          <a:noFill/>
          <a:ln w="10160">
            <a:solidFill>
              <a:srgbClr val="D6E1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651052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Football Performance and Team Success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3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Fatores contextuais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5039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A liga quase não muda a média; jogar em casa muda bastante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12648" y="1170432"/>
            <a:ext cx="914400" cy="0"/>
          </a:xfrm>
          <a:prstGeom prst="line">
            <a:avLst/>
          </a:prstGeom>
          <a:noFill/>
          <a:ln w="29210">
            <a:solidFill>
              <a:srgbClr val="00A6A6"/>
            </a:solidFill>
            <a:prstDash val="solid"/>
          </a:ln>
        </p:spPr>
      </p:sp>
      <p:pic>
        <p:nvPicPr>
          <p:cNvPr id="5" name="Image 0" descr="/mnt/data/football_charts/home_away_p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14204"/>
            <a:ext cx="5486400" cy="272103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92240" y="1508760"/>
            <a:ext cx="4617720" cy="1188720"/>
          </a:xfrm>
          <a:prstGeom prst="roundRect">
            <a:avLst>
              <a:gd name="adj" fmla="val 7692"/>
            </a:avLst>
          </a:prstGeom>
          <a:solidFill>
            <a:srgbClr val="F7FBFC"/>
          </a:solidFill>
          <a:ln w="12700">
            <a:solidFill>
              <a:srgbClr val="DDE9E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38544" y="1709928"/>
            <a:ext cx="0" cy="786384"/>
          </a:xfrm>
          <a:prstGeom prst="line">
            <a:avLst/>
          </a:prstGeom>
          <a:noFill/>
          <a:ln w="38100">
            <a:solidFill>
              <a:srgbClr val="3BA55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12280" y="1673352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32F"/>
                </a:solidFill>
              </a:rPr>
              <a:t>Leitura principal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812280" y="201168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0232F"/>
                </a:solidFill>
              </a:rPr>
              <a:t>As equipas em casa obtêm 1,60 pontos médios por jogo, contra 1,15 fora. A diferença é suficientemente clara para ser tratada como fator contextual.</a:t>
            </a:r>
            <a:endParaRPr lang="en-US" sz="1070" dirty="0"/>
          </a:p>
        </p:txBody>
      </p:sp>
      <p:sp>
        <p:nvSpPr>
          <p:cNvPr id="10" name="Shape 7"/>
          <p:cNvSpPr/>
          <p:nvPr/>
        </p:nvSpPr>
        <p:spPr>
          <a:xfrm>
            <a:off x="6492240" y="2971800"/>
            <a:ext cx="4617720" cy="1188720"/>
          </a:xfrm>
          <a:prstGeom prst="roundRect">
            <a:avLst>
              <a:gd name="adj" fmla="val 7692"/>
            </a:avLst>
          </a:prstGeom>
          <a:solidFill>
            <a:srgbClr val="F7FBFC"/>
          </a:solidFill>
          <a:ln w="12700">
            <a:solidFill>
              <a:srgbClr val="DDE9E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38544" y="3172968"/>
            <a:ext cx="0" cy="786384"/>
          </a:xfrm>
          <a:prstGeom prst="line">
            <a:avLst/>
          </a:prstGeom>
          <a:noFill/>
          <a:ln w="38100">
            <a:solidFill>
              <a:srgbClr val="00A6A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12280" y="3136392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32F"/>
                </a:solidFill>
              </a:rPr>
              <a:t>Entre ligas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812280" y="347472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0232F"/>
                </a:solidFill>
              </a:rPr>
              <a:t>A média de pontos por jogo varia pouco entre as seis ligas: aproximadamente entre 1,36 e 1,38. O contexto casa/fora é mais expressivo.</a:t>
            </a:r>
            <a:endParaRPr lang="en-US" sz="1070" dirty="0"/>
          </a:p>
        </p:txBody>
      </p:sp>
      <p:sp>
        <p:nvSpPr>
          <p:cNvPr id="14" name="Shape 11"/>
          <p:cNvSpPr/>
          <p:nvPr/>
        </p:nvSpPr>
        <p:spPr>
          <a:xfrm>
            <a:off x="6492240" y="4434840"/>
            <a:ext cx="4617720" cy="960120"/>
          </a:xfrm>
          <a:prstGeom prst="roundRect">
            <a:avLst>
              <a:gd name="adj" fmla="val 9524"/>
            </a:avLst>
          </a:prstGeom>
          <a:solidFill>
            <a:srgbClr val="F7FBFC"/>
          </a:solidFill>
          <a:ln w="12700">
            <a:solidFill>
              <a:srgbClr val="DDE9E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638544" y="4636008"/>
            <a:ext cx="0" cy="557784"/>
          </a:xfrm>
          <a:prstGeom prst="line">
            <a:avLst/>
          </a:prstGeom>
          <a:noFill/>
          <a:ln w="38100">
            <a:solidFill>
              <a:srgbClr val="D9A21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12280" y="4599432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32F"/>
                </a:solidFill>
              </a:rPr>
              <a:t>Interpretação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812280" y="4937760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0232F"/>
                </a:solidFill>
              </a:rPr>
              <a:t>O sucesso não depende apenas da qualidade da equipa. O contexto do jogo também altera a probabilidade de sair com pontos.</a:t>
            </a:r>
            <a:endParaRPr lang="en-US" sz="1070" dirty="0"/>
          </a:p>
        </p:txBody>
      </p:sp>
      <p:sp>
        <p:nvSpPr>
          <p:cNvPr id="18" name="Shape 15"/>
          <p:cNvSpPr/>
          <p:nvPr/>
        </p:nvSpPr>
        <p:spPr>
          <a:xfrm>
            <a:off x="640080" y="6446520"/>
            <a:ext cx="10607040" cy="0"/>
          </a:xfrm>
          <a:prstGeom prst="line">
            <a:avLst/>
          </a:prstGeom>
          <a:noFill/>
          <a:ln w="10160">
            <a:solidFill>
              <a:srgbClr val="D6E1E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651052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Football Performance and Team Success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3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Variáveis mais ligadas ao sucesso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5039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Correlação entre métricas-chave e pontos obtidos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12648" y="1170432"/>
            <a:ext cx="914400" cy="0"/>
          </a:xfrm>
          <a:prstGeom prst="line">
            <a:avLst/>
          </a:prstGeom>
          <a:noFill/>
          <a:ln w="29210">
            <a:solidFill>
              <a:srgbClr val="00A6A6"/>
            </a:solidFill>
            <a:prstDash val="solid"/>
          </a:ln>
        </p:spPr>
      </p:sp>
      <p:pic>
        <p:nvPicPr>
          <p:cNvPr id="5" name="Image 0" descr="/mnt/data/football_charts/correlations_p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86007"/>
            <a:ext cx="6263640" cy="488034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269480" y="1508760"/>
            <a:ext cx="4114800" cy="960120"/>
          </a:xfrm>
          <a:prstGeom prst="roundRect">
            <a:avLst>
              <a:gd name="adj" fmla="val 9524"/>
            </a:avLst>
          </a:prstGeom>
          <a:solidFill>
            <a:srgbClr val="F7FBFC"/>
          </a:solidFill>
          <a:ln w="12700">
            <a:solidFill>
              <a:srgbClr val="DDE9E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15784" y="1709928"/>
            <a:ext cx="0" cy="557784"/>
          </a:xfrm>
          <a:prstGeom prst="line">
            <a:avLst/>
          </a:prstGeom>
          <a:noFill/>
          <a:ln w="38100">
            <a:solidFill>
              <a:srgbClr val="00A6A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673352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32F"/>
                </a:solidFill>
              </a:rPr>
              <a:t>Mais fortes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589520" y="2011680"/>
            <a:ext cx="3611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0232F"/>
                </a:solidFill>
              </a:rPr>
              <a:t>Golos marcados (0,66), xPts (0,60) e npxGD (0,56) crescem com os pontos.</a:t>
            </a:r>
            <a:endParaRPr lang="en-US" sz="1070" dirty="0"/>
          </a:p>
        </p:txBody>
      </p:sp>
      <p:sp>
        <p:nvSpPr>
          <p:cNvPr id="10" name="Shape 7"/>
          <p:cNvSpPr/>
          <p:nvPr/>
        </p:nvSpPr>
        <p:spPr>
          <a:xfrm>
            <a:off x="7269480" y="274320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7FBFC"/>
          </a:solidFill>
          <a:ln w="12700">
            <a:solidFill>
              <a:srgbClr val="DDE9E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15784" y="2944368"/>
            <a:ext cx="0" cy="694944"/>
          </a:xfrm>
          <a:prstGeom prst="line">
            <a:avLst/>
          </a:prstGeom>
          <a:noFill/>
          <a:ln w="38100">
            <a:solidFill>
              <a:srgbClr val="D24A3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89520" y="2907792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32F"/>
                </a:solidFill>
              </a:rPr>
              <a:t>Sinal defensivo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589520" y="324612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0232F"/>
                </a:solidFill>
              </a:rPr>
              <a:t>Golos sofridos têm correlação negativa forte (-0,60), confirmando a importância de conceder menos ocasiões e menos golos.</a:t>
            </a:r>
            <a:endParaRPr lang="en-US" sz="1070" dirty="0"/>
          </a:p>
        </p:txBody>
      </p:sp>
      <p:sp>
        <p:nvSpPr>
          <p:cNvPr id="14" name="Shape 11"/>
          <p:cNvSpPr/>
          <p:nvPr/>
        </p:nvSpPr>
        <p:spPr>
          <a:xfrm>
            <a:off x="7269480" y="416052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7FBFC"/>
          </a:solidFill>
          <a:ln w="12700">
            <a:solidFill>
              <a:srgbClr val="DDE9E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15784" y="4361688"/>
            <a:ext cx="0" cy="740664"/>
          </a:xfrm>
          <a:prstGeom prst="line">
            <a:avLst/>
          </a:prstGeom>
          <a:noFill/>
          <a:ln w="38100">
            <a:solidFill>
              <a:srgbClr val="3BA55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589520" y="4325112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32F"/>
                </a:solidFill>
              </a:rPr>
              <a:t>Resultado vs esperado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589520" y="4663440"/>
            <a:ext cx="3611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0232F"/>
                </a:solidFill>
              </a:rPr>
              <a:t>xpts_diff é muito negativo (-0,78): quando a equipa fica aquém do esperado, a penalização nos pontos é clara.</a:t>
            </a:r>
            <a:endParaRPr lang="en-US" sz="1070" dirty="0"/>
          </a:p>
        </p:txBody>
      </p:sp>
      <p:sp>
        <p:nvSpPr>
          <p:cNvPr id="18" name="Shape 15"/>
          <p:cNvSpPr/>
          <p:nvPr/>
        </p:nvSpPr>
        <p:spPr>
          <a:xfrm>
            <a:off x="640080" y="6446520"/>
            <a:ext cx="10607040" cy="0"/>
          </a:xfrm>
          <a:prstGeom prst="line">
            <a:avLst/>
          </a:prstGeom>
          <a:noFill/>
          <a:ln w="10160">
            <a:solidFill>
              <a:srgbClr val="D6E1E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651052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Football Performance and Team Success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3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Consistência ao longo da época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5039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Agregação por equipa e ano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12648" y="1170432"/>
            <a:ext cx="914400" cy="0"/>
          </a:xfrm>
          <a:prstGeom prst="line">
            <a:avLst/>
          </a:prstGeom>
          <a:noFill/>
          <a:ln w="29210">
            <a:solidFill>
              <a:srgbClr val="00A6A6"/>
            </a:solidFill>
            <a:prstDash val="solid"/>
          </a:ln>
        </p:spPr>
      </p:sp>
      <p:pic>
        <p:nvPicPr>
          <p:cNvPr id="5" name="Image 0" descr="/mnt/data/football_charts/top_club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2583"/>
            <a:ext cx="5897880" cy="352143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903720" y="1600200"/>
            <a:ext cx="4343400" cy="1143000"/>
          </a:xfrm>
          <a:prstGeom prst="roundRect">
            <a:avLst>
              <a:gd name="adj" fmla="val 8000"/>
            </a:avLst>
          </a:prstGeom>
          <a:solidFill>
            <a:srgbClr val="F7FBFC"/>
          </a:solidFill>
          <a:ln w="12700">
            <a:solidFill>
              <a:srgbClr val="DDE9E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050024" y="1801368"/>
            <a:ext cx="0" cy="740664"/>
          </a:xfrm>
          <a:prstGeom prst="line">
            <a:avLst/>
          </a:prstGeom>
          <a:noFill/>
          <a:ln w="38100">
            <a:solidFill>
              <a:srgbClr val="3BA55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223760" y="176479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32F"/>
                </a:solidFill>
              </a:rPr>
              <a:t>Top observado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223760" y="2103120"/>
            <a:ext cx="3840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0232F"/>
                </a:solidFill>
              </a:rPr>
              <a:t>Barcelona e Juventus lideram com 89,5 pontos médios por época. Paris Saint-Germain surge em terceiro com 86,3.</a:t>
            </a:r>
            <a:endParaRPr lang="en-US" sz="1070" dirty="0"/>
          </a:p>
        </p:txBody>
      </p:sp>
      <p:sp>
        <p:nvSpPr>
          <p:cNvPr id="10" name="Shape 7"/>
          <p:cNvSpPr/>
          <p:nvPr/>
        </p:nvSpPr>
        <p:spPr>
          <a:xfrm>
            <a:off x="6903720" y="3017520"/>
            <a:ext cx="4343400" cy="914400"/>
          </a:xfrm>
          <a:prstGeom prst="roundRect">
            <a:avLst>
              <a:gd name="adj" fmla="val 10000"/>
            </a:avLst>
          </a:prstGeom>
          <a:solidFill>
            <a:srgbClr val="F7FBFC"/>
          </a:solidFill>
          <a:ln w="12700">
            <a:solidFill>
              <a:srgbClr val="DDE9E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050024" y="3218688"/>
            <a:ext cx="0" cy="512064"/>
          </a:xfrm>
          <a:prstGeom prst="line">
            <a:avLst/>
          </a:prstGeom>
          <a:noFill/>
          <a:ln w="38100">
            <a:solidFill>
              <a:srgbClr val="00A6A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23760" y="318211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32F"/>
                </a:solidFill>
              </a:rPr>
              <a:t>Porquê agregar?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223760" y="35204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0232F"/>
                </a:solidFill>
              </a:rPr>
              <a:t>O nível jogo mostra variação e ruído; o nível equipa/época evidencia regularidade competitiva.</a:t>
            </a:r>
            <a:endParaRPr lang="en-US" sz="1070" dirty="0"/>
          </a:p>
        </p:txBody>
      </p:sp>
      <p:sp>
        <p:nvSpPr>
          <p:cNvPr id="14" name="Shape 11"/>
          <p:cNvSpPr/>
          <p:nvPr/>
        </p:nvSpPr>
        <p:spPr>
          <a:xfrm>
            <a:off x="6903720" y="4251960"/>
            <a:ext cx="4343400" cy="914400"/>
          </a:xfrm>
          <a:prstGeom prst="roundRect">
            <a:avLst>
              <a:gd name="adj" fmla="val 10000"/>
            </a:avLst>
          </a:prstGeom>
          <a:solidFill>
            <a:srgbClr val="F7FBFC"/>
          </a:solidFill>
          <a:ln w="12700">
            <a:solidFill>
              <a:srgbClr val="DDE9E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050024" y="4453128"/>
            <a:ext cx="0" cy="512064"/>
          </a:xfrm>
          <a:prstGeom prst="line">
            <a:avLst/>
          </a:prstGeom>
          <a:noFill/>
          <a:ln w="38100">
            <a:solidFill>
              <a:srgbClr val="D9A21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223760" y="441655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32F"/>
                </a:solidFill>
              </a:rPr>
              <a:t>Mensagem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223760" y="47548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0232F"/>
                </a:solidFill>
              </a:rPr>
              <a:t>O sucesso sustentado aparece em equipas que repetem desempenho alto, não apenas em jogos isolados.</a:t>
            </a:r>
            <a:endParaRPr lang="en-US" sz="1070" dirty="0"/>
          </a:p>
        </p:txBody>
      </p:sp>
      <p:sp>
        <p:nvSpPr>
          <p:cNvPr id="18" name="Shape 15"/>
          <p:cNvSpPr/>
          <p:nvPr/>
        </p:nvSpPr>
        <p:spPr>
          <a:xfrm>
            <a:off x="640080" y="6446520"/>
            <a:ext cx="10607040" cy="0"/>
          </a:xfrm>
          <a:prstGeom prst="line">
            <a:avLst/>
          </a:prstGeom>
          <a:noFill/>
          <a:ln w="10160">
            <a:solidFill>
              <a:srgbClr val="D6E1E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651052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Football Performance and Team Success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3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vantagem do xG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5039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Criar melhores oportunidades tende a gerar mais pontos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12648" y="1170432"/>
            <a:ext cx="914400" cy="0"/>
          </a:xfrm>
          <a:prstGeom prst="line">
            <a:avLst/>
          </a:prstGeom>
          <a:noFill/>
          <a:ln w="29210">
            <a:solidFill>
              <a:srgbClr val="00A6A6"/>
            </a:solidFill>
            <a:prstDash val="solid"/>
          </a:ln>
        </p:spPr>
      </p:sp>
      <p:pic>
        <p:nvPicPr>
          <p:cNvPr id="5" name="Image 0" descr="/mnt/data/football_charts/xg_vs_poi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45869"/>
            <a:ext cx="6446520" cy="427715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06640" y="1600200"/>
            <a:ext cx="3840480" cy="1051560"/>
          </a:xfrm>
          <a:prstGeom prst="roundRect">
            <a:avLst>
              <a:gd name="adj" fmla="val 8696"/>
            </a:avLst>
          </a:prstGeom>
          <a:solidFill>
            <a:srgbClr val="F7FBFC"/>
          </a:solidFill>
          <a:ln w="12700">
            <a:solidFill>
              <a:srgbClr val="DDE9E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552944" y="1801368"/>
            <a:ext cx="0" cy="649224"/>
          </a:xfrm>
          <a:prstGeom prst="line">
            <a:avLst/>
          </a:prstGeom>
          <a:noFill/>
          <a:ln w="38100">
            <a:solidFill>
              <a:srgbClr val="00A6A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26680" y="1764792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32F"/>
                </a:solidFill>
              </a:rPr>
              <a:t>Padrão visual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26680" y="2103120"/>
            <a:ext cx="3337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0232F"/>
                </a:solidFill>
              </a:rPr>
              <a:t>A linha de tendência é positiva: equipas com xG médio mais alto tendem a acumular mais pontos na época.</a:t>
            </a:r>
            <a:endParaRPr lang="en-US" sz="1070" dirty="0"/>
          </a:p>
        </p:txBody>
      </p:sp>
      <p:sp>
        <p:nvSpPr>
          <p:cNvPr id="10" name="Shape 7"/>
          <p:cNvSpPr/>
          <p:nvPr/>
        </p:nvSpPr>
        <p:spPr>
          <a:xfrm>
            <a:off x="7406640" y="2907792"/>
            <a:ext cx="3840480" cy="1097280"/>
          </a:xfrm>
          <a:prstGeom prst="roundRect">
            <a:avLst>
              <a:gd name="adj" fmla="val 8333"/>
            </a:avLst>
          </a:prstGeom>
          <a:solidFill>
            <a:srgbClr val="F7FBFC"/>
          </a:solidFill>
          <a:ln w="12700">
            <a:solidFill>
              <a:srgbClr val="DDE9E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52944" y="3108960"/>
            <a:ext cx="0" cy="694944"/>
          </a:xfrm>
          <a:prstGeom prst="line">
            <a:avLst/>
          </a:prstGeom>
          <a:noFill/>
          <a:ln w="38100">
            <a:solidFill>
              <a:srgbClr val="3BA55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26680" y="3072384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32F"/>
                </a:solidFill>
              </a:rPr>
              <a:t>Interpretação futebolística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726680" y="3410712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0232F"/>
                </a:solidFill>
              </a:rPr>
              <a:t>xG resume qualidade das oportunidades. Ao contrário de apenas contar remates, aproxima melhor a ameaça real criada.</a:t>
            </a:r>
            <a:endParaRPr lang="en-US" sz="1070" dirty="0"/>
          </a:p>
        </p:txBody>
      </p:sp>
      <p:sp>
        <p:nvSpPr>
          <p:cNvPr id="14" name="Shape 11"/>
          <p:cNvSpPr/>
          <p:nvPr/>
        </p:nvSpPr>
        <p:spPr>
          <a:xfrm>
            <a:off x="7406640" y="4279392"/>
            <a:ext cx="3840480" cy="1097280"/>
          </a:xfrm>
          <a:prstGeom prst="roundRect">
            <a:avLst>
              <a:gd name="adj" fmla="val 8333"/>
            </a:avLst>
          </a:prstGeom>
          <a:solidFill>
            <a:srgbClr val="F7FBFC"/>
          </a:solidFill>
          <a:ln w="12700">
            <a:solidFill>
              <a:srgbClr val="DDE9E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552944" y="4480560"/>
            <a:ext cx="0" cy="694944"/>
          </a:xfrm>
          <a:prstGeom prst="line">
            <a:avLst/>
          </a:prstGeom>
          <a:noFill/>
          <a:ln w="38100">
            <a:solidFill>
              <a:srgbClr val="D9A21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26680" y="4443984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32F"/>
                </a:solidFill>
              </a:rPr>
              <a:t>Limitação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726680" y="4782312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0232F"/>
                </a:solidFill>
              </a:rPr>
              <a:t>Mesmo com relação positiva, existem equipas que sobreperformam ou subperformam face ao xG. O futebol mantém variabilidade.</a:t>
            </a:r>
            <a:endParaRPr lang="en-US" sz="1070" dirty="0"/>
          </a:p>
        </p:txBody>
      </p:sp>
      <p:sp>
        <p:nvSpPr>
          <p:cNvPr id="18" name="Shape 15"/>
          <p:cNvSpPr/>
          <p:nvPr/>
        </p:nvSpPr>
        <p:spPr>
          <a:xfrm>
            <a:off x="640080" y="6446520"/>
            <a:ext cx="10607040" cy="0"/>
          </a:xfrm>
          <a:prstGeom prst="line">
            <a:avLst/>
          </a:prstGeom>
          <a:noFill/>
          <a:ln w="10160">
            <a:solidFill>
              <a:srgbClr val="D6E1E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651052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Football Performance and Team Success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3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Modelação preditiva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5039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Prever se a equipa ganha pontos no jogo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12648" y="1170432"/>
            <a:ext cx="914400" cy="0"/>
          </a:xfrm>
          <a:prstGeom prst="line">
            <a:avLst/>
          </a:prstGeom>
          <a:noFill/>
          <a:ln w="29210">
            <a:solidFill>
              <a:srgbClr val="00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3BA55D"/>
                </a:solidFill>
              </a:rPr>
              <a:t>1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22960" y="185623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B7280"/>
                </a:solidFill>
              </a:rPr>
              <a:t>ganhar pontos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6B7280"/>
                </a:solidFill>
              </a:rPr>
              <a:t>vitória ou empate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3063240" y="14173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24A3A"/>
                </a:solidFill>
              </a:rPr>
              <a:t>0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3063240" y="185623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B7280"/>
                </a:solidFill>
              </a:rPr>
              <a:t>derrota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6B7280"/>
                </a:solidFill>
              </a:rPr>
              <a:t>sem pontos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5303520" y="14173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A6A6"/>
                </a:solidFill>
              </a:rPr>
              <a:t>19 664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303520" y="185623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B7280"/>
                </a:solidFill>
              </a:rPr>
              <a:t>observações de treino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7543800" y="14173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F80ED"/>
                </a:solidFill>
              </a:rPr>
              <a:t>4 916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7543800" y="185623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B7280"/>
                </a:solidFill>
              </a:rPr>
              <a:t>observações de teste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9784080" y="1417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9A21B"/>
                </a:solidFill>
              </a:rPr>
              <a:t>62,6%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784080" y="185623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B7280"/>
                </a:solidFill>
              </a:rPr>
              <a:t>classe “ganhar pontos”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822960" y="3154680"/>
            <a:ext cx="4983480" cy="1170432"/>
          </a:xfrm>
          <a:prstGeom prst="roundRect">
            <a:avLst>
              <a:gd name="adj" fmla="val 7813"/>
            </a:avLst>
          </a:prstGeom>
          <a:solidFill>
            <a:srgbClr val="F7FBFC"/>
          </a:solidFill>
          <a:ln w="12700">
            <a:solidFill>
              <a:srgbClr val="DDE9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9264" y="3355848"/>
            <a:ext cx="0" cy="768096"/>
          </a:xfrm>
          <a:prstGeom prst="line">
            <a:avLst/>
          </a:prstGeom>
          <a:noFill/>
          <a:ln w="38100">
            <a:solidFill>
              <a:srgbClr val="00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3319272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32F"/>
                </a:solidFill>
              </a:rPr>
              <a:t>Modelos usados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43000" y="36576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0232F"/>
                </a:solidFill>
              </a:rPr>
              <a:t>Foram comparados dois modelos clássicos: Regressão Logística, pela sua interpretabilidade, e Random Forest, pela capacidade de captar relações não lineares.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6172200" y="3154680"/>
            <a:ext cx="4983480" cy="1170432"/>
          </a:xfrm>
          <a:prstGeom prst="roundRect">
            <a:avLst>
              <a:gd name="adj" fmla="val 7813"/>
            </a:avLst>
          </a:prstGeom>
          <a:solidFill>
            <a:srgbClr val="F7FBFC"/>
          </a:solidFill>
          <a:ln w="12700">
            <a:solidFill>
              <a:srgbClr val="DDE9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18504" y="3355848"/>
            <a:ext cx="0" cy="768096"/>
          </a:xfrm>
          <a:prstGeom prst="line">
            <a:avLst/>
          </a:prstGeom>
          <a:noFill/>
          <a:ln w="38100">
            <a:solidFill>
              <a:srgbClr val="3BA55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319272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32F"/>
                </a:solidFill>
              </a:rPr>
              <a:t>Features de entrada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92240" y="36576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0232F"/>
                </a:solidFill>
              </a:rPr>
              <a:t>xG, xGA, npxG, npxGA, deep, deep_allowed, npxGD, ppda_coef e oppda_coef.</a:t>
            </a:r>
            <a:endParaRPr lang="en-US" sz="1070" dirty="0"/>
          </a:p>
        </p:txBody>
      </p:sp>
      <p:sp>
        <p:nvSpPr>
          <p:cNvPr id="23" name="Shape 21"/>
          <p:cNvSpPr/>
          <p:nvPr/>
        </p:nvSpPr>
        <p:spPr>
          <a:xfrm>
            <a:off x="3108960" y="4709160"/>
            <a:ext cx="5989320" cy="841248"/>
          </a:xfrm>
          <a:prstGeom prst="roundRect">
            <a:avLst>
              <a:gd name="adj" fmla="val 10870"/>
            </a:avLst>
          </a:prstGeom>
          <a:solidFill>
            <a:srgbClr val="F7FBFC"/>
          </a:solidFill>
          <a:ln w="12700">
            <a:solidFill>
              <a:srgbClr val="DDE9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55264" y="4910328"/>
            <a:ext cx="0" cy="438912"/>
          </a:xfrm>
          <a:prstGeom prst="line">
            <a:avLst/>
          </a:prstGeom>
          <a:noFill/>
          <a:ln w="38100">
            <a:solidFill>
              <a:srgbClr val="0B1F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29000" y="4873752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32F"/>
                </a:solidFill>
              </a:rPr>
              <a:t>Resultado global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429000" y="521208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0232F"/>
                </a:solidFill>
              </a:rPr>
              <a:t>Ambos os modelos atingem cerca de 75% de accuracy, com AUC acima de 0,81.</a:t>
            </a:r>
            <a:endParaRPr lang="en-US" sz="1070" dirty="0"/>
          </a:p>
        </p:txBody>
      </p:sp>
      <p:sp>
        <p:nvSpPr>
          <p:cNvPr id="27" name="Shape 25"/>
          <p:cNvSpPr/>
          <p:nvPr/>
        </p:nvSpPr>
        <p:spPr>
          <a:xfrm>
            <a:off x="640080" y="6446520"/>
            <a:ext cx="10607040" cy="0"/>
          </a:xfrm>
          <a:prstGeom prst="line">
            <a:avLst/>
          </a:prstGeom>
          <a:noFill/>
          <a:ln w="10160">
            <a:solidFill>
              <a:srgbClr val="D6E1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651052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Football Performance and Team Success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3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Qualidade preditiva e variáveis-chave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5039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ROC + importância das features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12648" y="1170432"/>
            <a:ext cx="914400" cy="0"/>
          </a:xfrm>
          <a:prstGeom prst="line">
            <a:avLst/>
          </a:prstGeom>
          <a:noFill/>
          <a:ln w="29210">
            <a:solidFill>
              <a:srgbClr val="00A6A6"/>
            </a:solidFill>
            <a:prstDash val="solid"/>
          </a:ln>
        </p:spPr>
      </p:sp>
      <p:pic>
        <p:nvPicPr>
          <p:cNvPr id="5" name="Image 0" descr="/mnt/data/football_charts/roc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490" y="1325880"/>
            <a:ext cx="4968421" cy="4251960"/>
          </a:xfrm>
          <a:prstGeom prst="rect">
            <a:avLst/>
          </a:prstGeom>
        </p:spPr>
      </p:pic>
      <p:pic>
        <p:nvPicPr>
          <p:cNvPr id="6" name="Image 1" descr="/mnt/data/football_charts/feature_import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85596"/>
            <a:ext cx="5257800" cy="393252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097280" y="5687568"/>
            <a:ext cx="10058400" cy="566928"/>
          </a:xfrm>
          <a:prstGeom prst="roundRect">
            <a:avLst>
              <a:gd name="adj" fmla="val 16129"/>
            </a:avLst>
          </a:prstGeom>
          <a:solidFill>
            <a:srgbClr val="F7FBFC"/>
          </a:solidFill>
          <a:ln w="12700">
            <a:solidFill>
              <a:srgbClr val="DDE9ED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243584" y="5888736"/>
            <a:ext cx="0" cy="164592"/>
          </a:xfrm>
          <a:prstGeom prst="line">
            <a:avLst/>
          </a:prstGeom>
          <a:noFill/>
          <a:ln w="38100">
            <a:solidFill>
              <a:srgbClr val="00A6A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417320" y="5852160"/>
            <a:ext cx="9555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32F"/>
                </a:solidFill>
              </a:rPr>
              <a:t>Leitura final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417320" y="6190488"/>
            <a:ext cx="9555480" cy="-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0232F"/>
                </a:solidFill>
              </a:rPr>
              <a:t>A Regressão Logística obtém AUC=0,826 e o Random Forest AUC=0,815. No Random Forest, npxGD, xGA, xG e npxGA são os sinais mais relevantes.</a:t>
            </a:r>
            <a:endParaRPr lang="en-US" sz="1070" dirty="0"/>
          </a:p>
        </p:txBody>
      </p:sp>
      <p:sp>
        <p:nvSpPr>
          <p:cNvPr id="11" name="Shape 7"/>
          <p:cNvSpPr/>
          <p:nvPr/>
        </p:nvSpPr>
        <p:spPr>
          <a:xfrm>
            <a:off x="640080" y="6446520"/>
            <a:ext cx="10607040" cy="0"/>
          </a:xfrm>
          <a:prstGeom prst="line">
            <a:avLst/>
          </a:prstGeom>
          <a:noFill/>
          <a:ln w="10160">
            <a:solidFill>
              <a:srgbClr val="D6E1E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40080" y="651052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Football Performance and Team Success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football_analytics_bg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6858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Conclusões finais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685800" y="1344168"/>
            <a:ext cx="1143000" cy="0"/>
          </a:xfrm>
          <a:prstGeom prst="line">
            <a:avLst/>
          </a:prstGeom>
          <a:noFill/>
          <a:ln w="50800">
            <a:solidFill>
              <a:srgbClr val="00A6A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49808" y="1920240"/>
            <a:ext cx="384048" cy="38404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9808" y="200253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307592" y="187452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Sucesso é multidimensional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307592" y="2185416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9E6EA"/>
                </a:solidFill>
              </a:rPr>
              <a:t>Criar, defender e converter desempenho esperado em pontos têm de ser analisados em conjunto.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49808" y="2926080"/>
            <a:ext cx="384048" cy="384048"/>
          </a:xfrm>
          <a:prstGeom prst="ellipse">
            <a:avLst/>
          </a:prstGeom>
          <a:solidFill>
            <a:srgbClr val="3BA5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" y="300837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307592" y="288036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Casa/fora importa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1307592" y="3191256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9E6EA"/>
                </a:solidFill>
              </a:rPr>
              <a:t>A vantagem de jogar em casa é mais visível do que diferenças médias entre ligas.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49808" y="3931920"/>
            <a:ext cx="384048" cy="38404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9808" y="401421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307592" y="388620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xG e npxGD são centrais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1307592" y="4197096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9E6EA"/>
                </a:solidFill>
              </a:rPr>
              <a:t>O diferencial entre criação e concessão explica melhor o sucesso do que uma métrica isolada.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49808" y="4937760"/>
            <a:ext cx="384048" cy="384048"/>
          </a:xfrm>
          <a:prstGeom prst="ellipse">
            <a:avLst/>
          </a:prstGeom>
          <a:solidFill>
            <a:srgbClr val="3BA5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9808" y="502005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307592" y="489204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Os modelos são úteis, mas não definitivos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1307592" y="5202936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9E6EA"/>
                </a:solidFill>
              </a:rPr>
              <a:t>AUC acima de 0,81 mostra sinal preditivo, mantendo a incerteza natural do futebol.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863840" y="1975104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225856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232F"/>
                </a:solidFill>
              </a:rPr>
              <a:t>Para a demonstração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8183880" y="2697480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32F"/>
                </a:solidFill>
              </a:rPr>
              <a:t>1. Mostrar filtros por liga/ano/equipa.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0232F"/>
                </a:solidFill>
              </a:rPr>
              <a:t>2. Abrir correlações.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0232F"/>
                </a:solidFill>
              </a:rPr>
              <a:t>3. Mostrar Equipas/Épocas.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0232F"/>
                </a:solidFill>
              </a:rPr>
              <a:t>4. Fechar com Machine Learning.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8046720" y="5806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Obrigado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93776" y="658368"/>
            <a:ext cx="6583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 Display"/>
              </a:rPr>
              <a:t>Demo final (se houver tempo)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298448"/>
            <a:ext cx="868680" cy="27432"/>
          </a:xfrm>
          <a:prstGeom prst="rect">
            <a:avLst/>
          </a:prstGeom>
          <a:solidFill>
            <a:srgbClr val="75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12064" y="1627632"/>
            <a:ext cx="5897880" cy="4434840"/>
          </a:xfrm>
          <a:prstGeom prst="roundRect">
            <a:avLst/>
          </a:prstGeom>
          <a:solidFill>
            <a:srgbClr val="121B25"/>
          </a:solidFill>
          <a:ln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901952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Aptos"/>
              </a:rPr>
              <a:t>Ligação ao projeto</a:t>
            </a:r>
          </a:p>
          <a:p>
            <a:pPr>
              <a:spcBef>
                <a:spcPts val="800"/>
              </a:spcBef>
            </a:pPr>
            <a:r>
              <a:rPr sz="1400" u="sng">
                <a:solidFill>
                  <a:srgbClr val="85CEFF"/>
                </a:solidFill>
                <a:latin typeface="Aptos"/>
                <a:hlinkClick r:id="rId3"/>
              </a:rPr>
              <a:t>https://github.com/oSLaYN/football-performance-team-success</a:t>
            </a:r>
          </a:p>
          <a:p>
            <a:pPr>
              <a:spcBef>
                <a:spcPts val="1400"/>
              </a:spcBef>
            </a:pPr>
            <a:r>
              <a:rPr sz="1800" b="1">
                <a:solidFill>
                  <a:srgbClr val="FFFFFF"/>
                </a:solidFill>
                <a:latin typeface="Aptos"/>
              </a:rPr>
              <a:t>Execução rápida</a:t>
            </a:r>
          </a:p>
          <a:p>
            <a:pPr/>
            <a:r>
              <a:rPr sz="1500">
                <a:solidFill>
                  <a:srgbClr val="EDF2F7"/>
                </a:solidFill>
                <a:latin typeface="Aptos"/>
              </a:rPr>
              <a:t>Windows: abrir run.bat</a:t>
            </a:r>
          </a:p>
          <a:p>
            <a:pPr/>
            <a:r>
              <a:rPr sz="1500">
                <a:solidFill>
                  <a:srgbClr val="EDF2F7"/>
                </a:solidFill>
                <a:latin typeface="Aptos"/>
              </a:rPr>
              <a:t>Linux/macOS: chmod +x run.sh e depois ./run.sh</a:t>
            </a:r>
          </a:p>
          <a:p>
            <a:pPr/>
            <a:r>
              <a:rPr sz="1500">
                <a:solidFill>
                  <a:srgbClr val="EDF2F7"/>
                </a:solidFill>
                <a:latin typeface="Aptos"/>
              </a:rPr>
              <a:t>Os scripts instalam dependências e arrancam o Streamlit automaticamente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FFFFFF"/>
                </a:solidFill>
                <a:latin typeface="Aptos"/>
              </a:rPr>
              <a:t>Execução manual</a:t>
            </a:r>
          </a:p>
          <a:p>
            <a:pPr/>
            <a:r>
              <a:rPr sz="1500">
                <a:solidFill>
                  <a:srgbClr val="EDF2F7"/>
                </a:solidFill>
                <a:latin typeface="Aptos"/>
              </a:rPr>
              <a:t>pip install -r requirements.txt</a:t>
            </a:r>
          </a:p>
          <a:p>
            <a:pPr/>
            <a:r>
              <a:rPr sz="1500">
                <a:solidFill>
                  <a:srgbClr val="EDF2F7"/>
                </a:solidFill>
                <a:latin typeface="Aptos"/>
              </a:rPr>
              <a:t>streamlit run dashboard.py</a:t>
            </a:r>
          </a:p>
          <a:p>
            <a:pPr/>
            <a:r>
              <a:rPr sz="1500">
                <a:solidFill>
                  <a:srgbClr val="EDF2F7"/>
                </a:solidFill>
                <a:latin typeface="Aptos"/>
              </a:rPr>
              <a:t>Abrir no navegador: http://localhost:8501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12280" y="1627632"/>
            <a:ext cx="3657600" cy="4434840"/>
          </a:xfrm>
          <a:prstGeom prst="roundRect">
            <a:avLst/>
          </a:prstGeom>
          <a:solidFill>
            <a:srgbClr val="121B25"/>
          </a:solidFill>
          <a:ln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ootball_repo_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2084831"/>
            <a:ext cx="2377440" cy="2377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50608" y="4645152"/>
            <a:ext cx="2971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Abrir repositório</a:t>
            </a:r>
          </a:p>
          <a:p>
            <a:pPr algn="ctr"/>
            <a:r>
              <a:rPr sz="1400">
                <a:solidFill>
                  <a:srgbClr val="E9ECEF"/>
                </a:solidFill>
                <a:latin typeface="Aptos"/>
              </a:rPr>
              <a:t>QR + link clicável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6288" y="5614416"/>
            <a:ext cx="32918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DCE1E6"/>
                </a:solidFill>
                <a:latin typeface="Aptos"/>
              </a:rPr>
              <a:t>Não existe app pública publicada; a execução é local.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ESGTS — Instituto Politécnico de Santarém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Football Performance and Team Success — Apresentação Final</dc:title>
  <dc:subject>Football Performance and Team Success</dc:subject>
  <dc:creator>Isaac Mendes, Rodrigo Calado, Tiago Amorim</dc:creator>
  <cp:lastModifiedBy>Isaac Mendes, Rodrigo Calado, Tiago Amorim</cp:lastModifiedBy>
  <cp:revision>1</cp:revision>
  <dcterms:created xsi:type="dcterms:W3CDTF">2026-05-02T12:01:35Z</dcterms:created>
  <dcterms:modified xsi:type="dcterms:W3CDTF">2026-05-02T12:01:35Z</dcterms:modified>
</cp:coreProperties>
</file>