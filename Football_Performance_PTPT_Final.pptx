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 snapToObjects="1">
      <p:cViewPr varScale="1">
        <p:scale>
          <a:sx n="63" d="100"/>
          <a:sy n="63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30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pergunta central do trabalho: que métricas explicam o sucesso das equipas e até onde conseguimos prever o resultado.
Sublinhar que esta versão reorganiza o conteúdo do notebook para um formato mais claro de apresentação oral, mantendo os principais resultados.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o alcance do conjunto de dados.
Depois, referir a lógica metodológica: primeiro entender os padrões, depois agregar por equipa/época e, finalmente, testar se as métricas conseguem prever o resultado.
Vale a pena mencionar que foram retiradas variáveis que revelavam diretamente o resultado para evitar uma avaliação artificialmente otimista.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Neste slide apresento o </a:t>
            </a:r>
            <a:r>
              <a:rPr lang="pt-PT" dirty="0" err="1"/>
              <a:t>dataset</a:t>
            </a:r>
            <a:r>
              <a:rPr lang="pt-PT" dirty="0"/>
              <a:t> que serviu de base ao trabalho.</a:t>
            </a:r>
            <a:br>
              <a:rPr lang="pt-PT" dirty="0"/>
            </a:br>
            <a:r>
              <a:rPr lang="pt-PT" dirty="0"/>
              <a:t>O conjunto de dados inclui várias ligas, épocas e métricas relevantes do jogo, permitindo analisar o desempenho das equipas de forma mais detalhada.</a:t>
            </a:r>
            <a:br>
              <a:rPr lang="pt-PT" dirty="0"/>
            </a:br>
            <a:r>
              <a:rPr lang="pt-PT" dirty="0"/>
              <a:t>A sua principal mais-valia é combinar variáveis ofensivas, defensivas e táticas, o que ajuda a perceber melhor os fatores associados ao sucesso competitivo.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parte, reforçar que a liga, por si só, não explica grandes diferenças no rendimento médio.
O ponto realmente forte é o factor casa, que surge como vantagem consistente.
A barra do resultado serve também para lembrar que o alvo “pontos” deriva do próprio desfecho do </a:t>
            </a:r>
            <a:r>
              <a:rPr lang="en-US" dirty="0" err="1"/>
              <a:t>jogo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traduzir a análise estatística em linguagem simples.
O essencial é mostrar que as métricas ofensivas e defensivas acompanham muito de perto o resultado final.
Se for preciso resumir numa frase: marcar mais e sofrer menos continua a ser a regra, mas as métricas </a:t>
            </a:r>
            <a:r>
              <a:rPr lang="en-US" dirty="0" err="1"/>
              <a:t>avançadas</a:t>
            </a:r>
            <a:r>
              <a:rPr lang="en-US" dirty="0"/>
              <a:t> </a:t>
            </a:r>
            <a:r>
              <a:rPr lang="en-US" dirty="0" err="1"/>
              <a:t>ajudam</a:t>
            </a:r>
            <a:r>
              <a:rPr lang="en-US" dirty="0"/>
              <a:t> a explicar melhor esse comportamento.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leitura da matriz deve ser rápida: identificar apenas as relações mais fortes.
Convém esclarecer que xPts_diff é relevante porque traduz a distância entre o esperado e o que realmente aconteceu no jogo.
Se o tempo for curto, destacar só três sinais: golos marcados, golos sofridos e xPts.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ajuda a explicar a “forma” dos dados antes de passar para a comparação entre equipas e para a modelação.
A ideia principal é que as métricas avançadas não estão distribuídas de forma uniforme; a maioria dos jogos fica em valores moderados.
Também vale a pena notar que a variável pontos é discreta, o que condiciona o tipo de modelo a </a:t>
            </a:r>
            <a:r>
              <a:rPr lang="en-US" dirty="0" err="1"/>
              <a:t>aplicar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convém explicar a mudança de unidade de análise: do jogo para a época.
Esta transição é importante porque a pergunta sobre “sucesso” faz mais sentido quando olhamos para a consistência ao longo do tempo.
Se necessário, destacar apenas os três primeiros classificados e a diversidade de ligas </a:t>
            </a:r>
            <a:r>
              <a:rPr lang="en-US" dirty="0" err="1"/>
              <a:t>representadas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slides mais intuitivos para a audiência.
Vale a pena apontar a inclinação positiva das linhas por liga e explicar que a tendência não depende apenas de um </a:t>
            </a:r>
            <a:r>
              <a:rPr lang="en-US" dirty="0" err="1"/>
              <a:t>campeonato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t-PT" dirty="0"/>
              <a:t>Isto sugere que a capacidade de criar mais e melhores oportunidades de golo está associada a melhores resultados desportivos. Naturalmente, o ataque não explica tudo por si só, porque há outros fatores importantes, como a consistência defensiva, a eficácia, o contexto competitivo e até a regularidade ao longo da época. No entanto, este gráfico mostra claramente que o rendimento ofensivo é um dos sinais mais fortes de sucesso.</a:t>
            </a:r>
            <a:r>
              <a:rPr lang="en-US" dirty="0"/>
              <a:t>
A mensagem final deve ser simples: equipas que produzem melhor em ataque acumulam mais pontos ao longo da </a:t>
            </a:r>
            <a:r>
              <a:rPr lang="en-US" dirty="0" err="1"/>
              <a:t>época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Variaveis</a:t>
            </a:r>
            <a:r>
              <a:rPr lang="en-US" dirty="0"/>
              <a:t>: </a:t>
            </a:r>
          </a:p>
          <a:p>
            <a:r>
              <a:rPr lang="pt-PT" dirty="0" err="1"/>
              <a:t>xG</a:t>
            </a:r>
            <a:r>
              <a:rPr lang="pt-PT" dirty="0"/>
              <a:t> - golos esperados</a:t>
            </a:r>
          </a:p>
          <a:p>
            <a:r>
              <a:rPr lang="pt-PT" dirty="0" err="1"/>
              <a:t>xGA</a:t>
            </a:r>
            <a:r>
              <a:rPr lang="pt-PT" dirty="0"/>
              <a:t> - golos esperados sofridos</a:t>
            </a:r>
          </a:p>
          <a:p>
            <a:r>
              <a:rPr lang="pt-PT" dirty="0" err="1"/>
              <a:t>npxG</a:t>
            </a:r>
            <a:r>
              <a:rPr lang="pt-PT" dirty="0"/>
              <a:t> - golos esperados sem penalty</a:t>
            </a:r>
          </a:p>
          <a:p>
            <a:r>
              <a:rPr lang="pt-PT" dirty="0" err="1"/>
              <a:t>npxGA</a:t>
            </a:r>
            <a:r>
              <a:rPr lang="pt-PT" dirty="0"/>
              <a:t> - golos esperados sofridos sem penalty</a:t>
            </a:r>
          </a:p>
          <a:p>
            <a:endParaRPr lang="en-US" dirty="0"/>
          </a:p>
          <a:p>
            <a:r>
              <a:rPr lang="en-US" dirty="0"/>
              <a:t>Primeiro, explicar o objetivo da classificação binária de forma muito direta.
Depois, ler rapidamente as matrizes de confusão: a maior força dos modelos está em reconhecer jogos em que a equipa soma pontos.
Também importa dizer que prever derrotas continua a ser a parte mais exigente do </a:t>
            </a:r>
            <a:r>
              <a:rPr lang="en-US" dirty="0" err="1"/>
              <a:t>problema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Este slide encerra a fase de modelação e mostra dois aspetos essenciais: a capacidade preditiva dos modelos e a interpretação das variáveis mais influentes.</a:t>
            </a:r>
          </a:p>
          <a:p>
            <a:r>
              <a:rPr lang="pt-PT" dirty="0"/>
              <a:t>Começo pela curva ROC, porque ela permite avaliar se o modelo consegue distinguir equipas com melhor e pior desempenho de forma consistente. Quanto mais a curva se afastar da linha diagonal, que representa uma classificação ao acaso, melhor é a capacidade de separação do modelo. Assim, a mensagem principal aqui é que o modelo não está a adivinhar: existe efetivamente sinal útil nos dados.</a:t>
            </a:r>
          </a:p>
          <a:p>
            <a:r>
              <a:rPr lang="pt-PT" dirty="0"/>
              <a:t>Depois, passo para a importância das variáveis, porque esta análise ajuda a perceber quais os fatores que mais contribuem para as previsões. Neste caso, observa-se que variáveis ligadas à produção ofensiva e à solidez defensiva surgem entre as mais relevantes, o que reforça uma ideia já identificada ao longo da análise exploratória: o desempenho das equipas depende muito do equilíbrio entre a capacidade de criar oportunidades e a capacidade de limitar o adversário.</a:t>
            </a:r>
          </a:p>
          <a:p>
            <a:r>
              <a:rPr lang="pt-PT" dirty="0"/>
              <a:t>Em termos práticos, este slide mostra que os modelos têm utilidade analítica e que os resultados fazem sentido do ponto de vista futebolístico, porque confirmam padrões coerentes com o jogo.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apresentação com uma síntese muito clara e verbalizável.
Se houver tempo para apenas uma ideia final, usar a frase da caixa: o sucesso sustentável vem do equilíbrio entre ataque, defesa e consistência.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3856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‹#›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60120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Desempenho no Futebol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Sucesso das Equipas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Visualização de Dados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Escola Superior de Gestão e Tecnologia — Instituto Politécnico de Santarém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Isaac Mendes · Rodrigo Calado · Tiago Amorim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00584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31520" y="42428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da apresentação: compreender que métricas explicam o sucesso e até que ponto o resultado do jogo pode ser previsto.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868680"/>
            <a:ext cx="5074920" cy="5166360"/>
          </a:xfrm>
          <a:prstGeom prst="roundRect">
            <a:avLst>
              <a:gd name="adj" fmla="val 1441"/>
            </a:avLst>
          </a:prstGeom>
          <a:solidFill>
            <a:srgbClr val="FBFDFC"/>
          </a:solidFill>
          <a:ln w="12700">
            <a:solidFill>
              <a:srgbClr val="D7E5D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8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21975"/>
            <a:ext cx="4709160" cy="31683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 de dados e método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empírica e etapas da análise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24 580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observações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2258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variáveis originais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2843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ligas europeias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2014–2020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68680" y="4014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intervalo temporal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691640"/>
            <a:ext cx="3794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por jogo nas ligas Bundesliga, EPL, La Liga, Ligue 1, RFPL e Serie 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Inclui métricas ofensivas e defensivas como xG, xGA, npxG, npxGA, PPDA, deep e xPts.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data foi convertida logo no carregamento para suportar análise temporal e agregação por época.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1417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e modelação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691640"/>
            <a:ext cx="41148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Foram removidas variáveis com leakage, como year, wins, draws e loses.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combinou EDA, correlações, agregação por época e classificação binária.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Modelos testados: Regressão Logística e Random Forest.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30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55504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76078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27432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27432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420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Carregar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preparar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006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994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8580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568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Agregação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época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9154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89154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142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F8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Dataset utilizado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1115568" cy="27432"/>
          </a:xfrm>
          <a:prstGeom prst="rect">
            <a:avLst/>
          </a:prstGeom>
          <a:solidFill>
            <a:srgbClr val="2F8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06C7C"/>
                </a:solidFill>
              </a:rPr>
              <a:t>Estrutura do ficheiro principal usado na análise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8A57"/>
                </a:solidFill>
              </a:rPr>
              <a:t>24 580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observações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1389888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8A57"/>
                </a:solidFill>
              </a:rPr>
              <a:t>29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colunas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8A57"/>
                </a:solidFill>
              </a:rPr>
              <a:t>168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equipas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2286000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8A57"/>
                </a:solidFill>
              </a:rPr>
              <a:t>6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ligas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2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F8A57"/>
                </a:solidFill>
              </a:rPr>
              <a:t>2014–2019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épocas-base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7712" y="3182112"/>
            <a:ext cx="1444752" cy="76809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F8A57"/>
                </a:solidFill>
              </a:rPr>
              <a:t>0</a:t>
            </a:r>
          </a:p>
          <a:p>
            <a:pPr algn="ctr"/>
            <a:r>
              <a:rPr sz="1200">
                <a:solidFill>
                  <a:srgbClr val="606C7C"/>
                </a:solidFill>
              </a:rPr>
              <a:t>em falta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1353312"/>
            <a:ext cx="7754112" cy="20574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153619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A57"/>
                </a:solidFill>
              </a:rPr>
              <a:t>O que contém este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810512"/>
            <a:ext cx="71780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20">
                <a:solidFill>
                  <a:srgbClr val="1E293B"/>
                </a:solidFill>
              </a:defRPr>
            </a:pPr>
            <a:r>
              <a:t>• Uma observação por equipa e por jogo, com liga, época e local (casa/fora).</a:t>
            </a:r>
          </a:p>
          <a:p>
            <a:pPr>
              <a:spcAft>
                <a:spcPts val="600"/>
              </a:spcAft>
              <a:defRPr sz="1420">
                <a:solidFill>
                  <a:srgbClr val="1E293B"/>
                </a:solidFill>
              </a:defRPr>
            </a:pPr>
            <a:r>
              <a:t>• Métricas ofensivas, defensivas, pressão, resultado e diferenças face ao esperado.</a:t>
            </a:r>
          </a:p>
          <a:p>
            <a:pPr>
              <a:spcAft>
                <a:spcPts val="600"/>
              </a:spcAft>
              <a:defRPr sz="1420">
                <a:solidFill>
                  <a:srgbClr val="1E293B"/>
                </a:solidFill>
              </a:defRPr>
            </a:pPr>
            <a:r>
              <a:t>• Base usada no notebook para EDA, agregação por época e modelos preditivos.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10972800" cy="1481328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BE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00507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F8A57"/>
                </a:solidFill>
              </a:rPr>
              <a:t>Variáveis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34256"/>
            <a:ext cx="2011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Contexto</a:t>
            </a:r>
          </a:p>
          <a:p>
            <a:r>
              <a:rPr sz="1080">
                <a:solidFill>
                  <a:srgbClr val="606C7C"/>
                </a:solidFill>
              </a:rPr>
              <a:t>league, year, h_a, date,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334256"/>
            <a:ext cx="1828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Ataque</a:t>
            </a:r>
          </a:p>
          <a:p>
            <a:r>
              <a:rPr sz="1080">
                <a:solidFill>
                  <a:srgbClr val="606C7C"/>
                </a:solidFill>
              </a:rPr>
              <a:t>xG, npxG, deep,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34256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Defesa</a:t>
            </a:r>
          </a:p>
          <a:p>
            <a:r>
              <a:rPr sz="1080">
                <a:solidFill>
                  <a:srgbClr val="606C7C"/>
                </a:solidFill>
              </a:rPr>
              <a:t>xGA, npxGA, deep_allowed, missed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334256"/>
            <a:ext cx="21945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Pressão</a:t>
            </a:r>
          </a:p>
          <a:p>
            <a:r>
              <a:rPr sz="1080">
                <a:solidFill>
                  <a:srgbClr val="606C7C"/>
                </a:solidFill>
              </a:rPr>
              <a:t>ppda_coef, oppda_coef
e respetivos componentes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334256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293B"/>
                </a:solidFill>
              </a:rPr>
              <a:t>Resultado</a:t>
            </a:r>
          </a:p>
          <a:p>
            <a:r>
              <a:rPr sz="1080">
                <a:solidFill>
                  <a:srgbClr val="606C7C"/>
                </a:solidFill>
              </a:rPr>
              <a:t>result, pts, wins, draws,
loses, xpts, xpts_diff, npxGD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2239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8A57"/>
                </a:solidFill>
              </a:rPr>
              <a:t>Exemplo simplificado de registos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422392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i="1" dirty="0">
                <a:solidFill>
                  <a:srgbClr val="606C7C"/>
                </a:solidFill>
              </a:rPr>
              <a:t>Fonte principal: understat_per_game.csv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687568"/>
            <a:ext cx="123444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league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2808" y="5687568"/>
            <a:ext cx="59436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5687568"/>
            <a:ext cx="54864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h_a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35808" y="5687568"/>
            <a:ext cx="256032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96128" y="5687568"/>
            <a:ext cx="59436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xG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5687568"/>
            <a:ext cx="59436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xGA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5687568"/>
            <a:ext cx="50292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7768" y="5687568"/>
            <a:ext cx="731520" cy="219456"/>
          </a:xfrm>
          <a:prstGeom prst="rect">
            <a:avLst/>
          </a:prstGeom>
          <a:solidFill>
            <a:srgbClr val="2F8A57"/>
          </a:solidFill>
          <a:ln>
            <a:solidFill>
              <a:srgbClr val="2F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907024"/>
            <a:ext cx="12344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Bundesliga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8" y="5907024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2014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87168" y="5907024"/>
            <a:ext cx="5486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5808" y="5907024"/>
            <a:ext cx="25603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Bayern Munich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96128" y="5907024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2.57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5907024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1.2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4848" y="5907024"/>
            <a:ext cx="5029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87768" y="5907024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126480"/>
            <a:ext cx="12344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Bundesliga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92808" y="6126480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2014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87168" y="6126480"/>
            <a:ext cx="5486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35808" y="6126480"/>
            <a:ext cx="25603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Bayern Munich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96128" y="6126480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1.5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0488" y="6126480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1.31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6126480"/>
            <a:ext cx="5029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87768" y="6126480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345936"/>
            <a:ext cx="12344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Bundesliga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92808" y="6345936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2014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87168" y="6345936"/>
            <a:ext cx="54864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35808" y="6345936"/>
            <a:ext cx="25603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Bayern Munich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96128" y="6345936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1.23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0488" y="6345936"/>
            <a:ext cx="59436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0.31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4848" y="6345936"/>
            <a:ext cx="5029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87768" y="6345936"/>
            <a:ext cx="731520" cy="219456"/>
          </a:xfrm>
          <a:prstGeom prst="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40">
                <a:solidFill>
                  <a:srgbClr val="1E293B"/>
                </a:solidFill>
              </a:rPr>
              <a:t>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Factores contextuais e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Comparação entre liga, local do jogo e resultado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63040"/>
            <a:ext cx="37947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 ligas, a média de pontos por jogo quase não muda: oscila apenas entre 1,36 e 1,38.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efeito casa é claro: as equipas em casa fazem 1,60 pontos médios, face a 1,15 fora.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resultado mapeia diretamente os pontos: vitória = 3, empate = 1, derrota = 0.</a:t>
            </a:r>
            <a:endParaRPr lang="en-US" sz="1800" dirty="0"/>
          </a:p>
        </p:txBody>
      </p:sp>
      <p:pic>
        <p:nvPicPr>
          <p:cNvPr id="6" name="Image 0" descr="/mnt/data/ppt_work/assets/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93633"/>
            <a:ext cx="6629400" cy="21187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498348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969264" y="5093208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9264" y="5367528"/>
            <a:ext cx="34655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competitivo tem pouco peso entre ligas, mas jogar em casa continua a ser uma vantagem estrutural.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jogo e resultado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Golos, xPts e diferença face ao esperado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44752"/>
            <a:ext cx="374904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Quanto mais golos uma equipa marca, maior é a probabilidade de sair com pontos — sobretudo com vitória.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Pelo contrário, sofrer mais golos empurra claramente o jogo para a derrota.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equipas vencedoras tendem a ter melhor xPts e a superar o que seria esperado no encontro.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derrotadas mostram o padrão inverso: menos produção e pior alinhamento com o resultado desejado.</a:t>
            </a:r>
            <a:endParaRPr lang="en-US" sz="1700" dirty="0"/>
          </a:p>
        </p:txBody>
      </p:sp>
      <p:pic>
        <p:nvPicPr>
          <p:cNvPr id="6" name="Image 0" descr="/mnt/data/ppt_work/assets/metricas_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59384"/>
            <a:ext cx="6720840" cy="40055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mais ligadas ao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Correlação entre métricas-chave e pontos</a:t>
            </a:r>
            <a:endParaRPr lang="en-US" sz="1400" dirty="0"/>
          </a:p>
        </p:txBody>
      </p:sp>
      <p:pic>
        <p:nvPicPr>
          <p:cNvPr id="5" name="Image 0" descr="/mnt/data/ppt_work/assets/correl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84760"/>
            <a:ext cx="4892040" cy="40462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536192"/>
            <a:ext cx="470916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pontos têm correlação positiva forte com os golos marcados (0,66) e com xPts (0,60).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Sofrer golos surge com correlação negativa forte (-0,60), confirmando o peso da organização defensiva.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variável xPts_diff apresenta a ligação mais intensa (-0,78), sugerindo que ficar aquém do esperado penaliza fortemente o resultado.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80760" y="448056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245352" y="4590288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principal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45352" y="4864608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sucesso competitivo nasce do equilíbrio: criar mais, conceder menos e converter o desempenho esperado em pontos reais.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Distribuição das métricas-chave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das distribuições de xG, xGA e pontos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97764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xG e xGA apresentam perfis muito semelhantes, o que sugere equilíbrio médio entre criação e concessão de ocasiões.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Ambas as distribuições são enviesadas à direita: há muitos jogos com valores modestos e poucos casos extremos.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pontos surgem como variável discreta, concentrada nos valores 0, 1 e 3, o que aproxima esta tarefa da previsão do desfecho do jogo.</a:t>
            </a:r>
            <a:endParaRPr lang="en-US" sz="1700" dirty="0"/>
          </a:p>
        </p:txBody>
      </p:sp>
      <p:pic>
        <p:nvPicPr>
          <p:cNvPr id="6" name="Image 0" descr="/mnt/data/ppt_work/assets/distribui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99117"/>
            <a:ext cx="6217920" cy="19169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Equipas mais consistentes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Agregação por clube e por época</a:t>
            </a:r>
            <a:endParaRPr lang="en-US" sz="1400" dirty="0"/>
          </a:p>
        </p:txBody>
      </p:sp>
      <p:pic>
        <p:nvPicPr>
          <p:cNvPr id="5" name="Image 0" descr="/mnt/data/ppt_work/assets/top_cl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14184"/>
            <a:ext cx="6583680" cy="4226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627632"/>
            <a:ext cx="374904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Barcelona e Juventus lideram com 89,5 pontos médios por época entre 2014 e 2019.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Paris Saint-Germain surge logo atrás, com 86,3 pontos médios.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top inclui clubes de várias ligas, mostrando que a consistência não depende de um único campeonato.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agregação por época permite comparar sucesso sustentado, e não apenas jogos isolados.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43800" y="507492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7708392" y="518464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08392" y="5458968"/>
            <a:ext cx="3419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passamos do jogo para a época, o foco deixa de ser o acaso de um encontro e passa a ser a regularidade competitiva.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 ofensivo e sucesso da equipa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Relação entre xG médio por jogo e pontos na época</a:t>
            </a:r>
            <a:endParaRPr lang="en-US" sz="1400" dirty="0"/>
          </a:p>
        </p:txBody>
      </p:sp>
      <p:pic>
        <p:nvPicPr>
          <p:cNvPr id="5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8450"/>
            <a:ext cx="6995160" cy="4706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691640"/>
            <a:ext cx="342900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relação é claramente positiva: equipas com </a:t>
            </a:r>
            <a:r>
              <a:rPr lang="en-US" sz="17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</a:t>
            </a: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sz="17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golos</a:t>
            </a: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marcados</a:t>
            </a: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</a:t>
            </a:r>
            <a:r>
              <a:rPr lang="en-US" sz="17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médio</a:t>
            </a: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mais alto tendem a somar mais pontos na época.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padrão mantém-se nas diferentes ligas, o que reforça a robustez do indicador.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 termos práticos, criar oportunidades de maior qualidade é um dos sinais mais consistentes de sucesso.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Previsão do resultado do jogo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Modelação binária: ganhar pontos vs perder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17320"/>
            <a:ext cx="41605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Alvo: vitória ou empate = 1; derrota = 0.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Variáveis usadas: xG, xGA, npxG, npxGA, deep, deep_allowed, npxGD, PPDA e OPPDA.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Divisão: 19 664 observações para treino e 4 916 para teste.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classe “ganhar pontos” representa 62,6% dos jogos.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987552" y="4087368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 global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361688"/>
            <a:ext cx="3785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os modelos atingem cerca de 75% de accuracy. A Regressão Logística tem ligeira vantagem a identificar a classe “Pontos”.</a:t>
            </a:r>
            <a:endParaRPr lang="en-US" sz="1500" dirty="0"/>
          </a:p>
        </p:txBody>
      </p:sp>
      <p:pic>
        <p:nvPicPr>
          <p:cNvPr id="9" name="Image 0" descr="/mnt/data/ppt_work/assets/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192742"/>
            <a:ext cx="5897880" cy="29205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preditiva e variáveis-chave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Curvas ROC e importância das features no Random Forest</a:t>
            </a:r>
            <a:endParaRPr lang="en-US" sz="1400" dirty="0"/>
          </a:p>
        </p:txBody>
      </p:sp>
      <p:pic>
        <p:nvPicPr>
          <p:cNvPr id="5" name="Image 0" descr="/mnt/data/ppt_work/assets/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98" y="1325880"/>
            <a:ext cx="4511868" cy="4160520"/>
          </a:xfrm>
          <a:prstGeom prst="rect">
            <a:avLst/>
          </a:prstGeom>
        </p:spPr>
      </p:pic>
      <p:pic>
        <p:nvPicPr>
          <p:cNvPr id="6" name="Image 1" descr="/mnt/data/ppt_work/assets/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9092"/>
            <a:ext cx="5074920" cy="41540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5486400"/>
            <a:ext cx="102412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 de 0,826 na Regressão Logística e 0,815 no Random Forest: ambos distinguem bem os resultados.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npxGD é a variável mais importante, seguida de xGA, xG e npxGA.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diferencial entre capacidade ofensiva e defensiva é mais informativo do que uma métrica isolada.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principais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fica desta análise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3990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entre ligas pesa pouco; a vantagem casa pesa bastante.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317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métricas ofensivas e defensivas explicam grande parte do sucesso competitivo.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282696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868680" y="33558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nível da época, os clubes mais fortes destacam-se pela regularidade, não apenas por picos de rendimento.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215384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868680" y="42885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19709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modelos conseguem prever o resultado com qualidade razoável, mas as derrotas continuam mais difíceis de antecipar.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10104120" cy="713232"/>
          </a:xfrm>
          <a:prstGeom prst="roundRect">
            <a:avLst>
              <a:gd name="adj" fmla="val 7692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1033272" y="5550408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" y="5824728"/>
            <a:ext cx="9774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futebol, ganhar de forma consistente depende de criar mais valor ofensivo, proteger melhor a baliza e transformar esse desempenho em pontos reais ao longo do tempo.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2195</Words>
  <Application>Microsoft Office PowerPoint</Application>
  <PresentationFormat>Ecrã Panorâmico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Desempenho no Futebol e Sucesso das Equipas</dc:title>
  <dc:subject>Análise de desempenho no futebol</dc:subject>
  <dc:creator>OpenAI</dc:creator>
  <cp:lastModifiedBy>Tiago Amorim</cp:lastModifiedBy>
  <cp:revision>5</cp:revision>
  <dcterms:created xsi:type="dcterms:W3CDTF">2026-03-19T12:53:42Z</dcterms:created>
  <dcterms:modified xsi:type="dcterms:W3CDTF">2026-03-22T13:57:38Z</dcterms:modified>
</cp:coreProperties>
</file>