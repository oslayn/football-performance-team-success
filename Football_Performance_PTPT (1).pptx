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25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com a pergunta central do trabalho: que métricas explicam o sucesso das equipas e até onde conseguimos prever o resultado.
Sublinhar que esta versão reorganiza o conteúdo do notebook para um formato mais claro de apresentação oral, mantendo os principais resultados.
[Sources]
- Caderno enviado pelo utilizador: main.ipynb, célula 0 (título e autoria).
- Visual de apoio recriado a partir da saída Plotly da célula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rapidamente o alcance do conjunto de dados.
Depois, referir a lógica metodológica: primeiro entender os padrões, depois agregar por equipa/época e, finalmente, testar se as métricas conseguem prever o resultado.
Vale a pena mencionar que foram retiradas variáveis que revelavam diretamente o resultado para evitar uma avaliação artificialmente otimista.
[Sources]
- main.ipynb, células 4, 5, 7, 23, 29 e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como glossário rápido.
A ideia não é aprofundar a formulação matemática, mas garantir que a audiência percebe o significado prático de cada variável antes de chegar à parte de modelação.
Se o tempo for curto, destacar só quatro famílias: criação ofensiva, solidez defensiva, pressão e valor esperado.
[Sources]
- main.ipynb, células 7, 29, 30 e 39.
- Explicações em linguagem simples das métricas usadas no próprio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Nesta parte, reforçar que a liga, por si só, não explica grandes diferenças no rendimento médio.
O ponto realmente forte é o factor casa, que surge como vantagem consistente.
A barra do resultado serve também para lembrar que o alvo “pontos” deriva do próprio desfecho do jogo.
[Sources]
- main.ipynb, células 9, 10 e 11.
- Gráfico recriado a partir da saída Plotly da célula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slide para traduzir a análise estatística em linguagem simples.
O essencial é mostrar que as métricas ofensivas e defensivas acompanham muito de perto o resultado final.
Se for preciso resumir numa frase: marcar mais e sofrer menos continua a ser a regra, mas as métricas avançadas ajudam a explicar melhor esse comportamento.
[Sources]
- main.ipynb, células 12, 13 e 14.
- Gráfico recriado a partir dos valores médios apresentados na célula 13.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leitura da matriz deve ser rápida: identificar apenas as relações mais fortes.
Convém esclarecer que xPts_diff é relevante porque traduz a distância entre o esperado e o que realmente aconteceu no jogo.
Se o tempo for curto, destacar só três sinais: golos marcados, golos sofridos e xPts.
[Sources]
- main.ipynb, células 16, 20, 21 e 22.
- Heatmap recriado a partir da saída Plotly da célula 21; valores de correlação confirmados pela célula 16.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ajuda a explicar a “forma” dos dados antes de passar para a comparação entre equipas e para a modelação.
A ideia principal é que as métricas avançadas não estão distribuídas de forma uniforme; a maioria dos jogos fica em valores moderados.
Também vale a pena notar que a variável pontos é discreta, o que condiciona o tipo de modelo a aplicar.
[Sources]
- main.ipynb, células 17, 18 e 19.
- Gráfico recriado a partir da saída Plotly da célula 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convém explicar a mudança de unidade de análise: do jogo para a época.
Esta transição é importante porque a pergunta sobre “sucesso” faz mais sentido quando olhamos para a consistência ao longo do tempo.
Se necessário, destacar apenas os três primeiros classificados e a diversidade de ligas representadas.
[Sources]
- main.ipynb, células 23, 24 e 25.
- Gráfico recriado a partir da saída Plotly da célula 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dos slides mais intuitivos para a audiência.
Vale a pena apontar a inclinação positiva das linhas por liga e explicar que a tendência não depende apenas de um campeonato.
A mensagem final deve ser simples: equipas que produzem melhor em ataque acumulam mais pontos ao longo da época.
[Sources]
- main.ipynb, células 26, 27 e 28.
- Gráfico recriado a partir da saída Plotly da célula 27.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Primeiro, explicar o objetivo da classificação binária de forma muito direta.
Depois, ler rapidamente as matrizes de confusão: a maior força dos modelos está em reconhecer jogos em que a equipa soma pontos.
Também importa dizer que prever derrotas continua a ser a parte mais exigente do problema.
[Sources]
- main.ipynb, células 29, 30, 31, 32, 33 e 34.
- Gráfico recriado a partir da saída Plotly da célula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fecha a parte de modelação.
Começar pela ROC para mostrar que os modelos têm separação útil face ao acaso.
Depois, usar a importância das variáveis para ligar a modelação à interpretação futebolística: o equilíbrio entre ataque e defesa volta a surgir como determinante.
[Sources]
- main.ipynb, células 35, 36, 37, 38, 39 e 40.
- Gráfico ROC recriado a partir da saída Plotly da célula 36.
- Gráfico de importância recriado a partir da saída Plotly da célula 39.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 apresentação com uma síntese muito clara e verbalizável.
Se houver tempo para apenas uma ideia final, usar a frase da caixa: o sucesso sustentável vem do equilíbrio entre ataque, defesa e consistência.
Esta é também a melhor ponte para perguntas do público.
[Sources]
- Síntese construída a partir dos resultados apresentados nas células 10–40 do ficheiro main.ipynb.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11338560" y="6419088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‹#›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960120"/>
            <a:ext cx="5394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Desempenho no Futebol</a:t>
            </a:r>
            <a:endParaRPr lang="en-US" sz="2700" dirty="0"/>
          </a:p>
          <a:p>
            <a:pPr marL="0" indent="0">
              <a:buNone/>
            </a:pPr>
            <a:r>
              <a:rPr lang="en-US" sz="27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 Sucesso das Equipas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731520" y="217627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em PT-PT para apresentação em PowerPoint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788920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Visualização de Dados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Escola Superior de Gestão e Tecnologia — Instituto Politécnico de Santarém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Isaac Mendes · Rodrigo Calado · Tiago Amorim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4069080"/>
            <a:ext cx="1005840" cy="0"/>
          </a:xfrm>
          <a:prstGeom prst="line">
            <a:avLst/>
          </a:prstGeom>
          <a:noFill/>
          <a:ln w="317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731520" y="424281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 da apresentação: compreender que métricas explicam o sucesso e até que ponto o resultado do jogo pode ser previsto.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46520" y="868680"/>
            <a:ext cx="5074920" cy="5166360"/>
          </a:xfrm>
          <a:prstGeom prst="roundRect">
            <a:avLst>
              <a:gd name="adj" fmla="val 1441"/>
            </a:avLst>
          </a:prstGeom>
          <a:solidFill>
            <a:srgbClr val="FBFDFC"/>
          </a:solidFill>
          <a:ln w="12700">
            <a:solidFill>
              <a:srgbClr val="D7E5DB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pic>
        <p:nvPicPr>
          <p:cNvPr id="8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821975"/>
            <a:ext cx="4709160" cy="3168331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Conjunto de dados e método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empírica e etapas da análise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6868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24 580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68680" y="16733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observações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0025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868680" y="225856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variáveis originais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5877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168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68680" y="284378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equipas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1729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868680" y="3429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ligas europeias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7581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2014–2020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68680" y="4014216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intervalo temporal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926080" y="141732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de dados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26080" y="1691640"/>
            <a:ext cx="379476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Dados por jogo nas ligas Bundesliga, EPL, La Liga, Ligue 1, RFPL e Serie 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Inclui métricas ofensivas e defensivas como xG, xGA, npxG, npxGA, PPDA, deep e xPts.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data foi convertida logo no carregamento para suportar análise temporal e agregação por época.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95160" y="14173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Preparação e modelação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95160" y="1691640"/>
            <a:ext cx="411480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Foram removidas variáveis com leakage, como year, wins, draws e loses.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análise combinou EDA, correlações, agregação por época e classificação binária.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Modelos testados: Regressão Logística e Random Forest.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930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0" name="Shape 18"/>
          <p:cNvSpPr/>
          <p:nvPr/>
        </p:nvSpPr>
        <p:spPr>
          <a:xfrm>
            <a:off x="55504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7607808" y="4572000"/>
            <a:ext cx="1097280" cy="0"/>
          </a:xfrm>
          <a:prstGeom prst="line">
            <a:avLst/>
          </a:prstGeom>
          <a:noFill/>
          <a:ln w="19050">
            <a:solidFill>
              <a:srgbClr val="B8C7BC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pt-PT"/>
          </a:p>
        </p:txBody>
      </p:sp>
      <p:sp>
        <p:nvSpPr>
          <p:cNvPr id="22" name="Shape 20"/>
          <p:cNvSpPr/>
          <p:nvPr/>
        </p:nvSpPr>
        <p:spPr>
          <a:xfrm>
            <a:off x="27432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27432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5420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Carregar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 preparar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48006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994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8580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68580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568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Agregação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época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8915400" y="4251960"/>
            <a:ext cx="621792" cy="621792"/>
          </a:xfrm>
          <a:prstGeom prst="ellipse">
            <a:avLst/>
          </a:prstGeom>
          <a:solidFill>
            <a:srgbClr val="F3FBF6"/>
          </a:solidFill>
          <a:ln w="1905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8915400" y="4370832"/>
            <a:ext cx="621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8714232" y="498348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Prever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resultado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Explicação das variáveis utilizadas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 das métricas usadas na análise e na modelação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04672" y="1481328"/>
            <a:ext cx="5257800" cy="1508760"/>
          </a:xfrm>
          <a:prstGeom prst="roundRect">
            <a:avLst>
              <a:gd name="adj" fmla="val 3030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950976" y="1591056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ofensivas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0976" y="1828800"/>
            <a:ext cx="496519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xG: golos esperados, isto é, a qualidade das ocasiões criadas.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npxG: versão do xG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deep: entradas com bola em zonas avançadas/perigosas.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72200" y="1481328"/>
            <a:ext cx="5212080" cy="1508760"/>
          </a:xfrm>
          <a:prstGeom prst="roundRect">
            <a:avLst>
              <a:gd name="adj" fmla="val 3030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6318504" y="1591056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Métricas defensivas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318504" y="1828800"/>
            <a:ext cx="4919472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xGA: golos esperados concedidos ao adversário.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npxGA: versão do xGA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deep_allowed: entradas perigosas que a equipa permite.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" y="3246120"/>
            <a:ext cx="5257800" cy="1554480"/>
          </a:xfrm>
          <a:prstGeom prst="roundRect">
            <a:avLst>
              <a:gd name="adj" fmla="val 294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950976" y="3355848"/>
            <a:ext cx="49651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Pressão e intensidade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50976" y="3593592"/>
            <a:ext cx="496519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PPDA: quantos passes o adversário consegue fazer antes de uma ação defensiva; valores mais baixos sugerem maior pressão.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OPPDA: a mesma lógica, mas observada do lado do adversário.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72200" y="3246120"/>
            <a:ext cx="5212080" cy="1554480"/>
          </a:xfrm>
          <a:prstGeom prst="roundRect">
            <a:avLst>
              <a:gd name="adj" fmla="val 294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5240" dist="508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6318504" y="3355848"/>
            <a:ext cx="4919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Síntese e valor esperado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18504" y="3593592"/>
            <a:ext cx="4919472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npxGD = npxG - npxGA, ou seja, saldo ofensivo-defensivo sem penáltis.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xPts: pontos esperados segundo o desempenho do jogo.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xPts_diff: diferença entre pontos reais e pontos esperados.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4672" y="5230368"/>
            <a:ext cx="10579608" cy="749808"/>
          </a:xfrm>
          <a:prstGeom prst="roundRect">
            <a:avLst>
              <a:gd name="adj" fmla="val 7317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969264" y="5340096"/>
            <a:ext cx="10250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Ligação ao modelo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9264" y="5614416"/>
            <a:ext cx="10250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modelo final, o alvo é “ganhar pontos”: vitória ou empate = 1; derrota = 0. Assim, estas variáveis servem para explicar o rendimento antes do resultado final.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Factores contextuais e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Comparação entre liga, local do jogo e resultado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63040"/>
            <a:ext cx="3794760" cy="3063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Entre ligas, a média de pontos por jogo quase não muda: oscila apenas entre 1,36 e 1,38.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efeito casa é claro: as equipas em casa fazem 1,60 pontos médios, face a 1,15 fora.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resultado mapeia diretamente os pontos: vitória = 3, empate = 1, derrota = 0.</a:t>
            </a:r>
            <a:endParaRPr lang="en-US" sz="1800" dirty="0"/>
          </a:p>
        </p:txBody>
      </p:sp>
      <p:pic>
        <p:nvPicPr>
          <p:cNvPr id="6" name="Image 0" descr="/mnt/data/ppt_work/assets/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593633"/>
            <a:ext cx="6629400" cy="21187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04672" y="4983480"/>
            <a:ext cx="3794760" cy="960120"/>
          </a:xfrm>
          <a:prstGeom prst="roundRect">
            <a:avLst>
              <a:gd name="adj" fmla="val 5714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969264" y="5093208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9264" y="5367528"/>
            <a:ext cx="346557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competitivo tem pouco peso entre ligas, mas jogar em casa continua a ser uma vantagem estrutural.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Métricas de jogo e resultado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Golos, xPts e diferença face ao esperado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44752"/>
            <a:ext cx="3749040" cy="3429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Quanto mais golos uma equipa marca, maior é a probabilidade de sair com pontos — sobretudo com vitória.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Pelo contrário, sofrer mais golos empurra claramente o jogo para a derrota.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equipas vencedoras tendem a ter melhor xPts e a superar o que seria esperado no encontro.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 derrotadas mostram o padrão inverso: menos produção e pior alinhamento com o resultado desejado.</a:t>
            </a:r>
            <a:endParaRPr lang="en-US" sz="1700" dirty="0"/>
          </a:p>
        </p:txBody>
      </p:sp>
      <p:pic>
        <p:nvPicPr>
          <p:cNvPr id="6" name="Image 0" descr="/mnt/data/ppt_work/assets/metricas_resulta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659384"/>
            <a:ext cx="6720840" cy="400557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Variáveis mais ligadas ao sucesso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Correlação entre métricas-chave e pontos</a:t>
            </a:r>
            <a:endParaRPr lang="en-US" sz="1400" dirty="0"/>
          </a:p>
        </p:txBody>
      </p:sp>
      <p:pic>
        <p:nvPicPr>
          <p:cNvPr id="5" name="Image 0" descr="/mnt/data/ppt_work/assets/correl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84760"/>
            <a:ext cx="4892040" cy="404626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80760" y="1536192"/>
            <a:ext cx="4709160" cy="2606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pontos têm correlação positiva forte com os golos marcados (0,66) e com xPts (0,60).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Sofrer golos surge com correlação negativa forte (-0,60), confirmando o peso da organização defensiva.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variável xPts_diff apresenta a ligação mais intensa (-0,78), sugerindo que ficar aquém do esperado penaliza fortemente o resultado.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080760" y="4480560"/>
            <a:ext cx="4709160" cy="1188720"/>
          </a:xfrm>
          <a:prstGeom prst="roundRect">
            <a:avLst>
              <a:gd name="adj" fmla="val 4615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Text 5"/>
          <p:cNvSpPr/>
          <p:nvPr/>
        </p:nvSpPr>
        <p:spPr>
          <a:xfrm>
            <a:off x="6245352" y="4590288"/>
            <a:ext cx="4379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principal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245352" y="4864608"/>
            <a:ext cx="43799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sucesso competitivo nasce do equilíbrio: criar mais, conceder menos e converter o desempenho esperado em pontos reais.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Distribuição das métricas-chave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das distribuições de xG, xGA e pontos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3977640" cy="3246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xG e xGA apresentam perfis muito semelhantes, o que sugere equilíbrio médio entre criação e concessão de ocasiões.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Ambas as distribuições são enviesadas à direita: há muitos jogos com valores modestos e poucos casos extremos.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Os pontos surgem como variável discreta, concentrada nos valores 0, 1 e 3, o que aproxima esta tarefa da previsão do desfecho do jogo.</a:t>
            </a:r>
            <a:endParaRPr lang="en-US" sz="1700" dirty="0"/>
          </a:p>
        </p:txBody>
      </p:sp>
      <p:pic>
        <p:nvPicPr>
          <p:cNvPr id="6" name="Image 0" descr="/mnt/data/ppt_work/assets/distribui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699117"/>
            <a:ext cx="6217920" cy="191696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Equipas mais consistentes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Agregação por clube e por época</a:t>
            </a:r>
            <a:endParaRPr lang="en-US" sz="1400" dirty="0"/>
          </a:p>
        </p:txBody>
      </p:sp>
      <p:pic>
        <p:nvPicPr>
          <p:cNvPr id="5" name="Image 0" descr="/mnt/data/ppt_work/assets/top_club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814184"/>
            <a:ext cx="6583680" cy="4226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543800" y="1627632"/>
            <a:ext cx="374904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Barcelona e Juventus lideram com 89,5 pontos médios por época entre 2014 e 2019.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Paris Saint-Germain surge logo atrás, com 86,3 pontos médios.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top inclui clubes de várias ligas, mostrando que a consistência não depende de um único campeonato.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agregação por época permite comparar sucesso sustentado, e não apenas jogos isolados.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543800" y="4882896"/>
            <a:ext cx="3749040" cy="868680"/>
          </a:xfrm>
          <a:prstGeom prst="roundRect">
            <a:avLst>
              <a:gd name="adj" fmla="val 6316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 dirty="0"/>
          </a:p>
        </p:txBody>
      </p:sp>
      <p:sp>
        <p:nvSpPr>
          <p:cNvPr id="8" name="Text 5"/>
          <p:cNvSpPr/>
          <p:nvPr/>
        </p:nvSpPr>
        <p:spPr>
          <a:xfrm>
            <a:off x="7708392" y="5029200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Leitura rápida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08392" y="5458968"/>
            <a:ext cx="3419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Quando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passamos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do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jogo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para a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época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o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deixa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ser o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acaso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de um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encontro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e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passa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 ser a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regularidade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</a:t>
            </a:r>
            <a:r>
              <a:rPr lang="en-US" sz="1500" dirty="0" err="1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competitiva</a:t>
            </a: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xG ofensivo e sucesso da equipa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Relação entre xG médio por jogo e pontos na época</a:t>
            </a:r>
            <a:endParaRPr lang="en-US" sz="1400" dirty="0"/>
          </a:p>
        </p:txBody>
      </p:sp>
      <p:pic>
        <p:nvPicPr>
          <p:cNvPr id="5" name="Image 0" descr="/mnt/data/ppt_work/assets/xg_sucess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528450"/>
            <a:ext cx="6995160" cy="4706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01000" y="1691640"/>
            <a:ext cx="342900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relação é claramente positiva: equipas com xG médio mais alto tendem a somar mais pontos na época.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padrão mantém-se nas diferentes ligas, o que reforça a robustez do indicador.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 termos práticos, criar oportunidades de maior qualidade é um dos sinais mais consistentes de sucesso.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Previsão do resultado do jogo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Modelação binária: ganhar pontos vs perder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4672" y="1417320"/>
            <a:ext cx="4160520" cy="2331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Alvo: vitória ou empate = 1; derrota = 0.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Variáveis usadas: xG, xGA, npxG, npxGA, deep, deep_allowed, npxGD, PPDA e OPPDA (definidas no slide anterior).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Divisão: 19 664 observações para treino e 4 916 para teste.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classe “ganhar pontos” representa 62,6% dos jogos.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22960" y="3977640"/>
            <a:ext cx="4114800" cy="1417320"/>
          </a:xfrm>
          <a:prstGeom prst="roundRect">
            <a:avLst>
              <a:gd name="adj" fmla="val 3871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987552" y="4087368"/>
            <a:ext cx="3785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Desempenho global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87552" y="4361688"/>
            <a:ext cx="3785616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Ambos os modelos atingem cerca de 75% de accuracy. A Regressão Logística tem ligeira vantagem a identificar a classe “Pontos”.</a:t>
            </a:r>
            <a:endParaRPr lang="en-US" sz="1500" dirty="0"/>
          </a:p>
        </p:txBody>
      </p:sp>
      <p:pic>
        <p:nvPicPr>
          <p:cNvPr id="9" name="Image 0" descr="/mnt/data/ppt_work/assets/confus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6360" y="2192742"/>
            <a:ext cx="5897880" cy="29205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Qualidade preditiva e variáveis-chave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Curvas ROC e importância das features no Random Forest</a:t>
            </a:r>
            <a:endParaRPr lang="en-US" sz="1400" dirty="0"/>
          </a:p>
        </p:txBody>
      </p:sp>
      <p:pic>
        <p:nvPicPr>
          <p:cNvPr id="5" name="Image 0" descr="/mnt/data/ppt_work/assets/ro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98" y="1325880"/>
            <a:ext cx="4511868" cy="4160520"/>
          </a:xfrm>
          <a:prstGeom prst="rect">
            <a:avLst/>
          </a:prstGeom>
        </p:spPr>
      </p:pic>
      <p:pic>
        <p:nvPicPr>
          <p:cNvPr id="6" name="Image 1" descr="/mnt/data/ppt_work/assets/importanci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1329092"/>
            <a:ext cx="5074920" cy="41540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824" y="5486400"/>
            <a:ext cx="1024128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AUC de 0,826 na Regressão Logística e 0,815 no Random Forest: ambos distinguem bem os resultados.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npxGD é a variável mais importante, seguida de xGA, xG e npxGA.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 diferencial entre capacidade ofensiva e defensiva é mais informativo do que uma métrica isolada.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47472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21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Conclusões principais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804672"/>
            <a:ext cx="1097280" cy="0"/>
          </a:xfrm>
          <a:prstGeom prst="line">
            <a:avLst/>
          </a:prstGeom>
          <a:noFill/>
          <a:ln w="28575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 2"/>
          <p:cNvSpPr/>
          <p:nvPr/>
        </p:nvSpPr>
        <p:spPr>
          <a:xfrm>
            <a:off x="640080" y="93268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5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fica desta análise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6" name="Text 4"/>
          <p:cNvSpPr/>
          <p:nvPr/>
        </p:nvSpPr>
        <p:spPr>
          <a:xfrm>
            <a:off x="868680" y="14904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399032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contexto entre ligas pesa pouco; a vantagem casa pesa bastante.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68680" y="2350008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868680" y="242316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331720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métricas ofensivas e defensivas explicam grande parte do sucesso competitivo.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68680" y="3282696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868680" y="3355848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08760" y="326440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Ao nível da época, os clubes mais fortes destacam-se pela regularidade, não apenas por picos de rendimento.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8680" y="4215384"/>
            <a:ext cx="420624" cy="420624"/>
          </a:xfrm>
          <a:prstGeom prst="ellipse">
            <a:avLst/>
          </a:prstGeom>
          <a:solidFill>
            <a:srgbClr val="F2FAF5"/>
          </a:solidFill>
          <a:ln w="1524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868680" y="4288536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08760" y="4197096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modelos conseguem prever o resultado com qualidade razoável, mas as derrotas continuam mais difíceis de antecipar.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68680" y="5440680"/>
            <a:ext cx="10104120" cy="713232"/>
          </a:xfrm>
          <a:prstGeom prst="roundRect">
            <a:avLst>
              <a:gd name="adj" fmla="val 7692"/>
            </a:avLst>
          </a:prstGeom>
          <a:solidFill>
            <a:srgbClr val="F8FBF9"/>
          </a:solidFill>
          <a:ln w="12700">
            <a:solidFill>
              <a:srgbClr val="C9D8CC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1033272" y="5550408"/>
            <a:ext cx="9774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Mensagem final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33272" y="5824728"/>
            <a:ext cx="9774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futebol, ganhar de forma consistente depende de criar mais valor ofensivo, proteger melhor a baliza e transformar esse desempenho em pontos reais ao longo do tempo.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19088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2356</Words>
  <Application>Microsoft Office PowerPoint</Application>
  <PresentationFormat>Ecrã Panorâmico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Desempenho no Futebol e Sucesso das Equipas</dc:title>
  <dc:subject>Análise de desempenho no futebol</dc:subject>
  <dc:creator>OpenAI</dc:creator>
  <cp:lastModifiedBy>Tiago Amorim</cp:lastModifiedBy>
  <cp:revision>2</cp:revision>
  <dcterms:created xsi:type="dcterms:W3CDTF">2026-03-19T13:27:24Z</dcterms:created>
  <dcterms:modified xsi:type="dcterms:W3CDTF">2026-03-19T13:33:11Z</dcterms:modified>
</cp:coreProperties>
</file>